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32"/>
    <p:restoredTop sz="94643"/>
  </p:normalViewPr>
  <p:slideViewPr>
    <p:cSldViewPr snapToGrid="0">
      <p:cViewPr varScale="1">
        <p:scale>
          <a:sx n="336" d="100"/>
          <a:sy n="336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266400" y="5914800"/>
            <a:ext cx="11658960" cy="10080"/>
          </a:xfrm>
          <a:custGeom>
            <a:avLst/>
            <a:gdLst/>
            <a:ahLst/>
            <a:cxnLst/>
            <a:rect l="0" t="0" r="r" b="b"/>
            <a:pathLst>
              <a:path w="32386" h="28">
                <a:moveTo>
                  <a:pt x="0" y="0"/>
                </a:moveTo>
                <a:lnTo>
                  <a:pt x="32386" y="0"/>
                </a:lnTo>
                <a:lnTo>
                  <a:pt x="323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266400" y="914040"/>
            <a:ext cx="1143360" cy="200520"/>
          </a:xfrm>
          <a:custGeom>
            <a:avLst/>
            <a:gdLst/>
            <a:ahLst/>
            <a:cxnLst/>
            <a:rect l="0" t="0" r="r" b="b"/>
            <a:pathLst>
              <a:path w="3176" h="557">
                <a:moveTo>
                  <a:pt x="0" y="397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2"/>
                  <a:pt x="149" y="0"/>
                  <a:pt x="159" y="0"/>
                </a:cubicBezTo>
                <a:lnTo>
                  <a:pt x="3018" y="0"/>
                </a:lnTo>
                <a:cubicBezTo>
                  <a:pt x="3028" y="0"/>
                  <a:pt x="3038" y="2"/>
                  <a:pt x="3049" y="4"/>
                </a:cubicBezTo>
                <a:cubicBezTo>
                  <a:pt x="3059" y="6"/>
                  <a:pt x="3069" y="9"/>
                  <a:pt x="3078" y="13"/>
                </a:cubicBezTo>
                <a:cubicBezTo>
                  <a:pt x="3088" y="17"/>
                  <a:pt x="3097" y="21"/>
                  <a:pt x="3106" y="27"/>
                </a:cubicBezTo>
                <a:cubicBezTo>
                  <a:pt x="3114" y="33"/>
                  <a:pt x="3122" y="40"/>
                  <a:pt x="3130" y="47"/>
                </a:cubicBezTo>
                <a:cubicBezTo>
                  <a:pt x="3137" y="54"/>
                  <a:pt x="3144" y="62"/>
                  <a:pt x="3150" y="71"/>
                </a:cubicBezTo>
                <a:cubicBezTo>
                  <a:pt x="3155" y="80"/>
                  <a:pt x="3160" y="89"/>
                  <a:pt x="3164" y="98"/>
                </a:cubicBezTo>
                <a:cubicBezTo>
                  <a:pt x="3168" y="108"/>
                  <a:pt x="3171" y="118"/>
                  <a:pt x="3173" y="128"/>
                </a:cubicBezTo>
                <a:cubicBezTo>
                  <a:pt x="3175" y="139"/>
                  <a:pt x="3176" y="149"/>
                  <a:pt x="3176" y="159"/>
                </a:cubicBezTo>
                <a:lnTo>
                  <a:pt x="3176" y="397"/>
                </a:lnTo>
                <a:cubicBezTo>
                  <a:pt x="3176" y="408"/>
                  <a:pt x="3175" y="418"/>
                  <a:pt x="3173" y="428"/>
                </a:cubicBezTo>
                <a:cubicBezTo>
                  <a:pt x="3171" y="439"/>
                  <a:pt x="3168" y="448"/>
                  <a:pt x="3164" y="458"/>
                </a:cubicBezTo>
                <a:cubicBezTo>
                  <a:pt x="3160" y="468"/>
                  <a:pt x="3155" y="477"/>
                  <a:pt x="3150" y="486"/>
                </a:cubicBezTo>
                <a:cubicBezTo>
                  <a:pt x="3144" y="494"/>
                  <a:pt x="3137" y="502"/>
                  <a:pt x="3130" y="510"/>
                </a:cubicBezTo>
                <a:cubicBezTo>
                  <a:pt x="3122" y="518"/>
                  <a:pt x="3114" y="525"/>
                  <a:pt x="3106" y="530"/>
                </a:cubicBezTo>
                <a:cubicBezTo>
                  <a:pt x="3097" y="536"/>
                  <a:pt x="3088" y="541"/>
                  <a:pt x="3078" y="545"/>
                </a:cubicBezTo>
                <a:cubicBezTo>
                  <a:pt x="3069" y="549"/>
                  <a:pt x="3059" y="552"/>
                  <a:pt x="3049" y="554"/>
                </a:cubicBezTo>
                <a:cubicBezTo>
                  <a:pt x="3038" y="556"/>
                  <a:pt x="3028" y="557"/>
                  <a:pt x="3018" y="557"/>
                </a:cubicBezTo>
                <a:lnTo>
                  <a:pt x="159" y="557"/>
                </a:lnTo>
                <a:cubicBezTo>
                  <a:pt x="149" y="557"/>
                  <a:pt x="138" y="556"/>
                  <a:pt x="128" y="554"/>
                </a:cubicBezTo>
                <a:cubicBezTo>
                  <a:pt x="118" y="552"/>
                  <a:pt x="108" y="549"/>
                  <a:pt x="98" y="545"/>
                </a:cubicBezTo>
                <a:cubicBezTo>
                  <a:pt x="89" y="541"/>
                  <a:pt x="80" y="536"/>
                  <a:pt x="71" y="530"/>
                </a:cubicBezTo>
                <a:cubicBezTo>
                  <a:pt x="62" y="525"/>
                  <a:pt x="54" y="518"/>
                  <a:pt x="47" y="510"/>
                </a:cubicBezTo>
                <a:cubicBezTo>
                  <a:pt x="39" y="502"/>
                  <a:pt x="33" y="494"/>
                  <a:pt x="27" y="486"/>
                </a:cubicBezTo>
                <a:cubicBezTo>
                  <a:pt x="21" y="477"/>
                  <a:pt x="16" y="468"/>
                  <a:pt x="12" y="458"/>
                </a:cubicBezTo>
                <a:cubicBezTo>
                  <a:pt x="8" y="448"/>
                  <a:pt x="5" y="439"/>
                  <a:pt x="3" y="428"/>
                </a:cubicBezTo>
                <a:cubicBezTo>
                  <a:pt x="1" y="418"/>
                  <a:pt x="0" y="408"/>
                  <a:pt x="0" y="397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6760" y="468720"/>
            <a:ext cx="4472280" cy="349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950" b="1" u="none" strike="noStrike">
                <a:solidFill>
                  <a:srgbClr val="224466"/>
                </a:solidFill>
                <a:effectLst/>
                <a:uFillTx/>
                <a:latin typeface=".SFNS-Regular_wdth_opsz1A0000_GRAD_wght2580000"/>
                <a:ea typeface=".SFNS-Regular_wdth_opsz1A0000_GRAD_wght2580000"/>
              </a:rPr>
              <a:t>How we ran IO500 on the cluster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16080" y="938520"/>
            <a:ext cx="10411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555555"/>
                </a:solidFill>
                <a:effectLst/>
                <a:uFillTx/>
                <a:latin typeface="Menlo"/>
                <a:ea typeface="Menlo"/>
              </a:rPr>
              <a:t>io500-isc25_v2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271440" y="4643280"/>
            <a:ext cx="5867640" cy="676440"/>
          </a:xfrm>
          <a:custGeom>
            <a:avLst/>
            <a:gdLst/>
            <a:ahLst/>
            <a:cxnLst/>
            <a:rect l="0" t="0" r="r" b="b"/>
            <a:pathLst>
              <a:path w="16299" h="1879">
                <a:moveTo>
                  <a:pt x="0" y="1787"/>
                </a:moveTo>
                <a:lnTo>
                  <a:pt x="0" y="93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16206" y="0"/>
                </a:lnTo>
                <a:cubicBezTo>
                  <a:pt x="16219" y="0"/>
                  <a:pt x="16230" y="2"/>
                  <a:pt x="16242" y="7"/>
                </a:cubicBezTo>
                <a:cubicBezTo>
                  <a:pt x="16253" y="12"/>
                  <a:pt x="16263" y="18"/>
                  <a:pt x="16272" y="27"/>
                </a:cubicBezTo>
                <a:cubicBezTo>
                  <a:pt x="16280" y="36"/>
                  <a:pt x="16287" y="46"/>
                  <a:pt x="16292" y="57"/>
                </a:cubicBezTo>
                <a:cubicBezTo>
                  <a:pt x="16297" y="68"/>
                  <a:pt x="16299" y="80"/>
                  <a:pt x="16299" y="93"/>
                </a:cubicBezTo>
                <a:lnTo>
                  <a:pt x="16299" y="1787"/>
                </a:lnTo>
                <a:cubicBezTo>
                  <a:pt x="16299" y="1799"/>
                  <a:pt x="16297" y="1811"/>
                  <a:pt x="16292" y="1822"/>
                </a:cubicBezTo>
                <a:cubicBezTo>
                  <a:pt x="16287" y="1834"/>
                  <a:pt x="16280" y="1844"/>
                  <a:pt x="16272" y="1852"/>
                </a:cubicBezTo>
                <a:cubicBezTo>
                  <a:pt x="16263" y="1861"/>
                  <a:pt x="16253" y="1868"/>
                  <a:pt x="16242" y="1872"/>
                </a:cubicBezTo>
                <a:cubicBezTo>
                  <a:pt x="16230" y="1877"/>
                  <a:pt x="16219" y="1879"/>
                  <a:pt x="16206" y="1879"/>
                </a:cubicBezTo>
                <a:lnTo>
                  <a:pt x="92" y="1879"/>
                </a:lnTo>
                <a:cubicBezTo>
                  <a:pt x="80" y="1879"/>
                  <a:pt x="68" y="1877"/>
                  <a:pt x="57" y="1872"/>
                </a:cubicBezTo>
                <a:cubicBezTo>
                  <a:pt x="45" y="1868"/>
                  <a:pt x="35" y="1861"/>
                  <a:pt x="27" y="1852"/>
                </a:cubicBezTo>
                <a:cubicBezTo>
                  <a:pt x="18" y="1844"/>
                  <a:pt x="11" y="1834"/>
                  <a:pt x="7" y="1822"/>
                </a:cubicBezTo>
                <a:cubicBezTo>
                  <a:pt x="2" y="1811"/>
                  <a:pt x="0" y="1799"/>
                  <a:pt x="0" y="1787"/>
                </a:cubicBezTo>
                <a:close/>
              </a:path>
            </a:pathLst>
          </a:custGeom>
          <a:solidFill>
            <a:srgbClr val="F4F4F4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271440" y="4643280"/>
            <a:ext cx="5867640" cy="676440"/>
          </a:xfrm>
          <a:custGeom>
            <a:avLst/>
            <a:gdLst/>
            <a:ahLst/>
            <a:cxnLst/>
            <a:rect l="0" t="0" r="r" b="b"/>
            <a:pathLst>
              <a:path w="16299" h="1879">
                <a:moveTo>
                  <a:pt x="0" y="1787"/>
                </a:moveTo>
                <a:lnTo>
                  <a:pt x="0" y="93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5" y="18"/>
                  <a:pt x="45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16206" y="0"/>
                </a:lnTo>
                <a:cubicBezTo>
                  <a:pt x="16219" y="0"/>
                  <a:pt x="16230" y="2"/>
                  <a:pt x="16242" y="7"/>
                </a:cubicBezTo>
                <a:cubicBezTo>
                  <a:pt x="16253" y="12"/>
                  <a:pt x="16263" y="18"/>
                  <a:pt x="16272" y="27"/>
                </a:cubicBezTo>
                <a:cubicBezTo>
                  <a:pt x="16280" y="36"/>
                  <a:pt x="16287" y="46"/>
                  <a:pt x="16292" y="57"/>
                </a:cubicBezTo>
                <a:cubicBezTo>
                  <a:pt x="16297" y="68"/>
                  <a:pt x="16299" y="80"/>
                  <a:pt x="16299" y="93"/>
                </a:cubicBezTo>
                <a:lnTo>
                  <a:pt x="16299" y="1787"/>
                </a:lnTo>
                <a:cubicBezTo>
                  <a:pt x="16299" y="1799"/>
                  <a:pt x="16297" y="1811"/>
                  <a:pt x="16292" y="1822"/>
                </a:cubicBezTo>
                <a:cubicBezTo>
                  <a:pt x="16287" y="1834"/>
                  <a:pt x="16280" y="1844"/>
                  <a:pt x="16272" y="1852"/>
                </a:cubicBezTo>
                <a:cubicBezTo>
                  <a:pt x="16263" y="1861"/>
                  <a:pt x="16253" y="1868"/>
                  <a:pt x="16242" y="1872"/>
                </a:cubicBezTo>
                <a:cubicBezTo>
                  <a:pt x="16230" y="1877"/>
                  <a:pt x="16219" y="1879"/>
                  <a:pt x="16206" y="1879"/>
                </a:cubicBezTo>
                <a:lnTo>
                  <a:pt x="92" y="1879"/>
                </a:lnTo>
                <a:cubicBezTo>
                  <a:pt x="80" y="1879"/>
                  <a:pt x="68" y="1877"/>
                  <a:pt x="57" y="1872"/>
                </a:cubicBezTo>
                <a:cubicBezTo>
                  <a:pt x="45" y="1868"/>
                  <a:pt x="35" y="1861"/>
                  <a:pt x="27" y="1852"/>
                </a:cubicBezTo>
                <a:cubicBezTo>
                  <a:pt x="18" y="1844"/>
                  <a:pt x="11" y="1834"/>
                  <a:pt x="7" y="1822"/>
                </a:cubicBezTo>
                <a:cubicBezTo>
                  <a:pt x="2" y="1811"/>
                  <a:pt x="0" y="1799"/>
                  <a:pt x="0" y="1787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lstStyle/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09400" y="914760"/>
            <a:ext cx="3191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555555"/>
                </a:solidFill>
                <a:effectLst/>
                <a:uFillTx/>
                <a:latin typeface=".SFNS"/>
                <a:ea typeface=".SFNS"/>
              </a:rPr>
              <a:t> · standard mode · POSIX · 2026-03-16 · 1 h 46 m wall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276120" y="1590480"/>
            <a:ext cx="47880" cy="47880"/>
          </a:xfrm>
          <a:custGeom>
            <a:avLst/>
            <a:gdLst/>
            <a:ahLst/>
            <a:cxn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3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3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3" y="125"/>
                  <a:pt x="25" y="120"/>
                  <a:pt x="19" y="114"/>
                </a:cubicBezTo>
                <a:cubicBezTo>
                  <a:pt x="13" y="108"/>
                  <a:pt x="8" y="101"/>
                  <a:pt x="5" y="93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2"/>
                </a:cubicBezTo>
                <a:cubicBezTo>
                  <a:pt x="8" y="34"/>
                  <a:pt x="13" y="27"/>
                  <a:pt x="19" y="20"/>
                </a:cubicBezTo>
                <a:cubicBezTo>
                  <a:pt x="25" y="14"/>
                  <a:pt x="33" y="9"/>
                  <a:pt x="41" y="6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2" y="6"/>
                </a:cubicBezTo>
                <a:cubicBezTo>
                  <a:pt x="100" y="9"/>
                  <a:pt x="108" y="14"/>
                  <a:pt x="114" y="20"/>
                </a:cubicBezTo>
                <a:cubicBezTo>
                  <a:pt x="120" y="27"/>
                  <a:pt x="125" y="34"/>
                  <a:pt x="128" y="42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66760" y="1218240"/>
            <a:ext cx="126216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1A5490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Client topology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819000" y="1523880"/>
            <a:ext cx="476640" cy="190800"/>
          </a:xfrm>
          <a:custGeom>
            <a:avLst/>
            <a:gdLst/>
            <a:ahLst/>
            <a:cxnLst/>
            <a:rect l="0" t="0" r="r" b="b"/>
            <a:pathLst>
              <a:path w="1324" h="530">
                <a:moveTo>
                  <a:pt x="0" y="37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165" y="0"/>
                </a:lnTo>
                <a:cubicBezTo>
                  <a:pt x="1176" y="0"/>
                  <a:pt x="1186" y="1"/>
                  <a:pt x="1196" y="3"/>
                </a:cubicBezTo>
                <a:cubicBezTo>
                  <a:pt x="1206" y="5"/>
                  <a:pt x="1216" y="8"/>
                  <a:pt x="1226" y="12"/>
                </a:cubicBezTo>
                <a:cubicBezTo>
                  <a:pt x="1235" y="16"/>
                  <a:pt x="1245" y="21"/>
                  <a:pt x="1253" y="27"/>
                </a:cubicBezTo>
                <a:cubicBezTo>
                  <a:pt x="1262" y="32"/>
                  <a:pt x="1270" y="39"/>
                  <a:pt x="1277" y="46"/>
                </a:cubicBezTo>
                <a:cubicBezTo>
                  <a:pt x="1285" y="54"/>
                  <a:pt x="1291" y="62"/>
                  <a:pt x="1297" y="70"/>
                </a:cubicBezTo>
                <a:cubicBezTo>
                  <a:pt x="1303" y="79"/>
                  <a:pt x="1308" y="88"/>
                  <a:pt x="1312" y="98"/>
                </a:cubicBezTo>
                <a:cubicBezTo>
                  <a:pt x="1316" y="107"/>
                  <a:pt x="1319" y="117"/>
                  <a:pt x="1321" y="128"/>
                </a:cubicBezTo>
                <a:cubicBezTo>
                  <a:pt x="1323" y="138"/>
                  <a:pt x="1324" y="148"/>
                  <a:pt x="1324" y="159"/>
                </a:cubicBezTo>
                <a:lnTo>
                  <a:pt x="1324" y="371"/>
                </a:lnTo>
                <a:cubicBezTo>
                  <a:pt x="1324" y="382"/>
                  <a:pt x="1323" y="392"/>
                  <a:pt x="1321" y="402"/>
                </a:cubicBezTo>
                <a:cubicBezTo>
                  <a:pt x="1319" y="412"/>
                  <a:pt x="1316" y="422"/>
                  <a:pt x="1312" y="432"/>
                </a:cubicBezTo>
                <a:cubicBezTo>
                  <a:pt x="1308" y="442"/>
                  <a:pt x="1303" y="451"/>
                  <a:pt x="1297" y="459"/>
                </a:cubicBezTo>
                <a:cubicBezTo>
                  <a:pt x="1291" y="468"/>
                  <a:pt x="1285" y="476"/>
                  <a:pt x="1277" y="484"/>
                </a:cubicBezTo>
                <a:cubicBezTo>
                  <a:pt x="1270" y="491"/>
                  <a:pt x="1262" y="497"/>
                  <a:pt x="1253" y="503"/>
                </a:cubicBezTo>
                <a:cubicBezTo>
                  <a:pt x="1245" y="509"/>
                  <a:pt x="1235" y="514"/>
                  <a:pt x="1226" y="518"/>
                </a:cubicBezTo>
                <a:cubicBezTo>
                  <a:pt x="1216" y="522"/>
                  <a:pt x="1206" y="525"/>
                  <a:pt x="1196" y="527"/>
                </a:cubicBezTo>
                <a:cubicBezTo>
                  <a:pt x="1186" y="529"/>
                  <a:pt x="1176" y="530"/>
                  <a:pt x="1165" y="530"/>
                </a:cubicBezTo>
                <a:lnTo>
                  <a:pt x="159" y="530"/>
                </a:lnTo>
                <a:cubicBezTo>
                  <a:pt x="148" y="530"/>
                  <a:pt x="138" y="529"/>
                  <a:pt x="128" y="527"/>
                </a:cubicBezTo>
                <a:cubicBezTo>
                  <a:pt x="117" y="525"/>
                  <a:pt x="108" y="522"/>
                  <a:pt x="98" y="518"/>
                </a:cubicBezTo>
                <a:cubicBezTo>
                  <a:pt x="88" y="514"/>
                  <a:pt x="79" y="509"/>
                  <a:pt x="70" y="503"/>
                </a:cubicBezTo>
                <a:cubicBezTo>
                  <a:pt x="62" y="497"/>
                  <a:pt x="54" y="491"/>
                  <a:pt x="46" y="484"/>
                </a:cubicBezTo>
                <a:cubicBezTo>
                  <a:pt x="39" y="476"/>
                  <a:pt x="32" y="468"/>
                  <a:pt x="27" y="459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8120" y="1484280"/>
            <a:ext cx="377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Host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1200" y="1548000"/>
            <a:ext cx="372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sc003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2600280" y="1523880"/>
            <a:ext cx="324000" cy="190800"/>
          </a:xfrm>
          <a:custGeom>
            <a:avLst/>
            <a:gdLst/>
            <a:ahLst/>
            <a:cxnLst/>
            <a:rect l="0" t="0" r="r" b="b"/>
            <a:pathLst>
              <a:path w="900" h="530">
                <a:moveTo>
                  <a:pt x="0" y="37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3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741" y="0"/>
                </a:lnTo>
                <a:cubicBezTo>
                  <a:pt x="752" y="0"/>
                  <a:pt x="762" y="1"/>
                  <a:pt x="772" y="3"/>
                </a:cubicBezTo>
                <a:cubicBezTo>
                  <a:pt x="783" y="5"/>
                  <a:pt x="793" y="8"/>
                  <a:pt x="802" y="12"/>
                </a:cubicBezTo>
                <a:cubicBezTo>
                  <a:pt x="812" y="16"/>
                  <a:pt x="821" y="21"/>
                  <a:pt x="830" y="27"/>
                </a:cubicBezTo>
                <a:cubicBezTo>
                  <a:pt x="838" y="32"/>
                  <a:pt x="846" y="39"/>
                  <a:pt x="854" y="46"/>
                </a:cubicBezTo>
                <a:cubicBezTo>
                  <a:pt x="861" y="54"/>
                  <a:pt x="868" y="62"/>
                  <a:pt x="873" y="70"/>
                </a:cubicBezTo>
                <a:cubicBezTo>
                  <a:pt x="879" y="79"/>
                  <a:pt x="884" y="88"/>
                  <a:pt x="888" y="98"/>
                </a:cubicBezTo>
                <a:cubicBezTo>
                  <a:pt x="892" y="107"/>
                  <a:pt x="895" y="117"/>
                  <a:pt x="897" y="128"/>
                </a:cubicBezTo>
                <a:cubicBezTo>
                  <a:pt x="899" y="138"/>
                  <a:pt x="900" y="148"/>
                  <a:pt x="900" y="159"/>
                </a:cubicBezTo>
                <a:lnTo>
                  <a:pt x="900" y="371"/>
                </a:lnTo>
                <a:cubicBezTo>
                  <a:pt x="900" y="382"/>
                  <a:pt x="899" y="392"/>
                  <a:pt x="897" y="402"/>
                </a:cubicBezTo>
                <a:cubicBezTo>
                  <a:pt x="895" y="412"/>
                  <a:pt x="892" y="422"/>
                  <a:pt x="888" y="432"/>
                </a:cubicBezTo>
                <a:cubicBezTo>
                  <a:pt x="884" y="442"/>
                  <a:pt x="879" y="451"/>
                  <a:pt x="873" y="459"/>
                </a:cubicBezTo>
                <a:cubicBezTo>
                  <a:pt x="868" y="468"/>
                  <a:pt x="861" y="476"/>
                  <a:pt x="854" y="484"/>
                </a:cubicBezTo>
                <a:cubicBezTo>
                  <a:pt x="846" y="491"/>
                  <a:pt x="838" y="497"/>
                  <a:pt x="830" y="503"/>
                </a:cubicBezTo>
                <a:cubicBezTo>
                  <a:pt x="821" y="509"/>
                  <a:pt x="812" y="514"/>
                  <a:pt x="802" y="518"/>
                </a:cubicBezTo>
                <a:cubicBezTo>
                  <a:pt x="793" y="522"/>
                  <a:pt x="783" y="525"/>
                  <a:pt x="772" y="527"/>
                </a:cubicBezTo>
                <a:cubicBezTo>
                  <a:pt x="762" y="529"/>
                  <a:pt x="752" y="530"/>
                  <a:pt x="741" y="530"/>
                </a:cubicBezTo>
                <a:lnTo>
                  <a:pt x="158" y="530"/>
                </a:lnTo>
                <a:cubicBezTo>
                  <a:pt x="148" y="530"/>
                  <a:pt x="138" y="529"/>
                  <a:pt x="127" y="527"/>
                </a:cubicBezTo>
                <a:cubicBezTo>
                  <a:pt x="117" y="525"/>
                  <a:pt x="107" y="522"/>
                  <a:pt x="98" y="518"/>
                </a:cubicBezTo>
                <a:cubicBezTo>
                  <a:pt x="88" y="514"/>
                  <a:pt x="79" y="509"/>
                  <a:pt x="70" y="503"/>
                </a:cubicBezTo>
                <a:cubicBezTo>
                  <a:pt x="62" y="497"/>
                  <a:pt x="53" y="491"/>
                  <a:pt x="46" y="484"/>
                </a:cubicBezTo>
                <a:cubicBezTo>
                  <a:pt x="39" y="476"/>
                  <a:pt x="32" y="468"/>
                  <a:pt x="26" y="459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293480" y="1484280"/>
            <a:ext cx="13204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, SLURM partition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50680" y="1548000"/>
            <a:ext cx="2235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htc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3390840" y="1523880"/>
            <a:ext cx="543240" cy="190800"/>
          </a:xfrm>
          <a:custGeom>
            <a:avLst/>
            <a:gdLst/>
            <a:ahLst/>
            <a:cxnLst/>
            <a:rect l="0" t="0" r="r" b="b"/>
            <a:pathLst>
              <a:path w="1509" h="530">
                <a:moveTo>
                  <a:pt x="0" y="37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6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1350" y="0"/>
                </a:lnTo>
                <a:cubicBezTo>
                  <a:pt x="1360" y="0"/>
                  <a:pt x="1371" y="1"/>
                  <a:pt x="1381" y="3"/>
                </a:cubicBezTo>
                <a:cubicBezTo>
                  <a:pt x="1391" y="5"/>
                  <a:pt x="1401" y="8"/>
                  <a:pt x="1411" y="12"/>
                </a:cubicBezTo>
                <a:cubicBezTo>
                  <a:pt x="1420" y="16"/>
                  <a:pt x="1430" y="21"/>
                  <a:pt x="1438" y="27"/>
                </a:cubicBezTo>
                <a:cubicBezTo>
                  <a:pt x="1447" y="32"/>
                  <a:pt x="1455" y="39"/>
                  <a:pt x="1462" y="46"/>
                </a:cubicBezTo>
                <a:cubicBezTo>
                  <a:pt x="1470" y="54"/>
                  <a:pt x="1476" y="62"/>
                  <a:pt x="1482" y="70"/>
                </a:cubicBezTo>
                <a:cubicBezTo>
                  <a:pt x="1488" y="79"/>
                  <a:pt x="1493" y="88"/>
                  <a:pt x="1497" y="98"/>
                </a:cubicBezTo>
                <a:cubicBezTo>
                  <a:pt x="1501" y="107"/>
                  <a:pt x="1504" y="117"/>
                  <a:pt x="1506" y="128"/>
                </a:cubicBezTo>
                <a:cubicBezTo>
                  <a:pt x="1508" y="138"/>
                  <a:pt x="1509" y="148"/>
                  <a:pt x="1509" y="159"/>
                </a:cubicBezTo>
                <a:lnTo>
                  <a:pt x="1509" y="371"/>
                </a:lnTo>
                <a:cubicBezTo>
                  <a:pt x="1509" y="382"/>
                  <a:pt x="1508" y="392"/>
                  <a:pt x="1506" y="402"/>
                </a:cubicBezTo>
                <a:cubicBezTo>
                  <a:pt x="1504" y="412"/>
                  <a:pt x="1501" y="422"/>
                  <a:pt x="1497" y="432"/>
                </a:cubicBezTo>
                <a:cubicBezTo>
                  <a:pt x="1493" y="442"/>
                  <a:pt x="1488" y="451"/>
                  <a:pt x="1482" y="459"/>
                </a:cubicBezTo>
                <a:cubicBezTo>
                  <a:pt x="1476" y="468"/>
                  <a:pt x="1470" y="476"/>
                  <a:pt x="1462" y="484"/>
                </a:cubicBezTo>
                <a:cubicBezTo>
                  <a:pt x="1455" y="491"/>
                  <a:pt x="1447" y="497"/>
                  <a:pt x="1438" y="503"/>
                </a:cubicBezTo>
                <a:cubicBezTo>
                  <a:pt x="1430" y="509"/>
                  <a:pt x="1420" y="514"/>
                  <a:pt x="1411" y="518"/>
                </a:cubicBezTo>
                <a:cubicBezTo>
                  <a:pt x="1401" y="522"/>
                  <a:pt x="1391" y="525"/>
                  <a:pt x="1381" y="527"/>
                </a:cubicBezTo>
                <a:cubicBezTo>
                  <a:pt x="1371" y="529"/>
                  <a:pt x="1360" y="530"/>
                  <a:pt x="1350" y="530"/>
                </a:cubicBezTo>
                <a:lnTo>
                  <a:pt x="158" y="530"/>
                </a:lnTo>
                <a:cubicBezTo>
                  <a:pt x="148" y="530"/>
                  <a:pt x="138" y="529"/>
                  <a:pt x="127" y="527"/>
                </a:cubicBezTo>
                <a:cubicBezTo>
                  <a:pt x="117" y="525"/>
                  <a:pt x="107" y="522"/>
                  <a:pt x="98" y="518"/>
                </a:cubicBezTo>
                <a:cubicBezTo>
                  <a:pt x="88" y="514"/>
                  <a:pt x="79" y="509"/>
                  <a:pt x="70" y="503"/>
                </a:cubicBezTo>
                <a:cubicBezTo>
                  <a:pt x="62" y="497"/>
                  <a:pt x="54" y="491"/>
                  <a:pt x="46" y="484"/>
                </a:cubicBezTo>
                <a:cubicBezTo>
                  <a:pt x="39" y="476"/>
                  <a:pt x="32" y="468"/>
                  <a:pt x="26" y="459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923920" y="1484280"/>
            <a:ext cx="4942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, QOS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276120" y="1876320"/>
            <a:ext cx="47880" cy="47880"/>
          </a:xfrm>
          <a:custGeom>
            <a:avLst/>
            <a:gdLst/>
            <a:ahLst/>
            <a:cxn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0"/>
                  <a:pt x="120" y="108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3" y="125"/>
                  <a:pt x="25" y="120"/>
                  <a:pt x="19" y="114"/>
                </a:cubicBezTo>
                <a:cubicBezTo>
                  <a:pt x="13" y="108"/>
                  <a:pt x="8" y="100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2"/>
                </a:cubicBezTo>
                <a:cubicBezTo>
                  <a:pt x="8" y="34"/>
                  <a:pt x="13" y="26"/>
                  <a:pt x="19" y="20"/>
                </a:cubicBezTo>
                <a:cubicBezTo>
                  <a:pt x="25" y="14"/>
                  <a:pt x="33" y="9"/>
                  <a:pt x="41" y="6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3" y="1"/>
                  <a:pt x="92" y="6"/>
                </a:cubicBezTo>
                <a:cubicBezTo>
                  <a:pt x="100" y="9"/>
                  <a:pt x="108" y="14"/>
                  <a:pt x="114" y="20"/>
                </a:cubicBezTo>
                <a:cubicBezTo>
                  <a:pt x="120" y="26"/>
                  <a:pt x="125" y="34"/>
                  <a:pt x="128" y="42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440880" y="1548000"/>
            <a:ext cx="446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public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276120" y="2162160"/>
            <a:ext cx="47880" cy="47880"/>
          </a:xfrm>
          <a:custGeom>
            <a:avLst/>
            <a:gdLst/>
            <a:ahLst/>
            <a:cxnLst/>
            <a:rect l="0" t="0" r="r" b="b"/>
            <a:pathLst>
              <a:path w="133" h="133">
                <a:moveTo>
                  <a:pt x="133" y="66"/>
                </a:moveTo>
                <a:cubicBezTo>
                  <a:pt x="133" y="74"/>
                  <a:pt x="131" y="83"/>
                  <a:pt x="128" y="91"/>
                </a:cubicBezTo>
                <a:cubicBezTo>
                  <a:pt x="125" y="99"/>
                  <a:pt x="120" y="106"/>
                  <a:pt x="114" y="112"/>
                </a:cubicBezTo>
                <a:cubicBezTo>
                  <a:pt x="108" y="119"/>
                  <a:pt x="100" y="123"/>
                  <a:pt x="92" y="127"/>
                </a:cubicBezTo>
                <a:cubicBezTo>
                  <a:pt x="83" y="130"/>
                  <a:pt x="75" y="133"/>
                  <a:pt x="66" y="133"/>
                </a:cubicBezTo>
                <a:cubicBezTo>
                  <a:pt x="57" y="133"/>
                  <a:pt x="49" y="130"/>
                  <a:pt x="41" y="127"/>
                </a:cubicBezTo>
                <a:cubicBezTo>
                  <a:pt x="33" y="123"/>
                  <a:pt x="25" y="119"/>
                  <a:pt x="19" y="112"/>
                </a:cubicBezTo>
                <a:cubicBezTo>
                  <a:pt x="13" y="106"/>
                  <a:pt x="8" y="99"/>
                  <a:pt x="5" y="91"/>
                </a:cubicBezTo>
                <a:cubicBezTo>
                  <a:pt x="1" y="83"/>
                  <a:pt x="0" y="74"/>
                  <a:pt x="0" y="66"/>
                </a:cubicBezTo>
                <a:cubicBezTo>
                  <a:pt x="0" y="57"/>
                  <a:pt x="1" y="48"/>
                  <a:pt x="5" y="40"/>
                </a:cubicBezTo>
                <a:cubicBezTo>
                  <a:pt x="8" y="32"/>
                  <a:pt x="13" y="25"/>
                  <a:pt x="19" y="19"/>
                </a:cubicBezTo>
                <a:cubicBezTo>
                  <a:pt x="25" y="13"/>
                  <a:pt x="33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3" y="1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2"/>
                  <a:pt x="128" y="40"/>
                </a:cubicBezTo>
                <a:cubicBezTo>
                  <a:pt x="131" y="48"/>
                  <a:pt x="133" y="57"/>
                  <a:pt x="133" y="6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8120" y="1770120"/>
            <a:ext cx="34995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1" u="none" strike="noStrike">
                <a:solidFill>
                  <a:srgbClr val="1F2328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10 nodes × 4 tasks/node = 40 MPI ranks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1409400" y="2085840"/>
            <a:ext cx="1067400" cy="190800"/>
          </a:xfrm>
          <a:custGeom>
            <a:avLst/>
            <a:gdLst/>
            <a:ahLst/>
            <a:cxnLst/>
            <a:rect l="0" t="0" r="r" b="b"/>
            <a:pathLst>
              <a:path w="2965" h="530">
                <a:moveTo>
                  <a:pt x="0" y="37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8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806" y="0"/>
                </a:lnTo>
                <a:cubicBezTo>
                  <a:pt x="2816" y="0"/>
                  <a:pt x="2827" y="1"/>
                  <a:pt x="2837" y="3"/>
                </a:cubicBezTo>
                <a:cubicBezTo>
                  <a:pt x="2847" y="5"/>
                  <a:pt x="2857" y="8"/>
                  <a:pt x="2867" y="12"/>
                </a:cubicBezTo>
                <a:cubicBezTo>
                  <a:pt x="2876" y="16"/>
                  <a:pt x="2885" y="21"/>
                  <a:pt x="2894" y="27"/>
                </a:cubicBezTo>
                <a:cubicBezTo>
                  <a:pt x="2903" y="32"/>
                  <a:pt x="2911" y="39"/>
                  <a:pt x="2918" y="46"/>
                </a:cubicBezTo>
                <a:cubicBezTo>
                  <a:pt x="2926" y="54"/>
                  <a:pt x="2932" y="62"/>
                  <a:pt x="2938" y="70"/>
                </a:cubicBezTo>
                <a:cubicBezTo>
                  <a:pt x="2944" y="79"/>
                  <a:pt x="2949" y="88"/>
                  <a:pt x="2953" y="98"/>
                </a:cubicBezTo>
                <a:cubicBezTo>
                  <a:pt x="2957" y="108"/>
                  <a:pt x="2960" y="117"/>
                  <a:pt x="2962" y="128"/>
                </a:cubicBezTo>
                <a:cubicBezTo>
                  <a:pt x="2964" y="138"/>
                  <a:pt x="2965" y="148"/>
                  <a:pt x="2965" y="159"/>
                </a:cubicBezTo>
                <a:lnTo>
                  <a:pt x="2965" y="371"/>
                </a:lnTo>
                <a:cubicBezTo>
                  <a:pt x="2965" y="382"/>
                  <a:pt x="2964" y="392"/>
                  <a:pt x="2962" y="402"/>
                </a:cubicBezTo>
                <a:cubicBezTo>
                  <a:pt x="2960" y="412"/>
                  <a:pt x="2957" y="422"/>
                  <a:pt x="2953" y="432"/>
                </a:cubicBezTo>
                <a:cubicBezTo>
                  <a:pt x="2949" y="442"/>
                  <a:pt x="2944" y="451"/>
                  <a:pt x="2938" y="459"/>
                </a:cubicBezTo>
                <a:cubicBezTo>
                  <a:pt x="2932" y="468"/>
                  <a:pt x="2926" y="476"/>
                  <a:pt x="2918" y="484"/>
                </a:cubicBezTo>
                <a:cubicBezTo>
                  <a:pt x="2911" y="491"/>
                  <a:pt x="2903" y="497"/>
                  <a:pt x="2894" y="503"/>
                </a:cubicBezTo>
                <a:cubicBezTo>
                  <a:pt x="2885" y="509"/>
                  <a:pt x="2876" y="514"/>
                  <a:pt x="2867" y="518"/>
                </a:cubicBezTo>
                <a:cubicBezTo>
                  <a:pt x="2857" y="522"/>
                  <a:pt x="2847" y="525"/>
                  <a:pt x="2837" y="527"/>
                </a:cubicBezTo>
                <a:cubicBezTo>
                  <a:pt x="2827" y="529"/>
                  <a:pt x="2816" y="530"/>
                  <a:pt x="2806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4"/>
                </a:cubicBezTo>
                <a:cubicBezTo>
                  <a:pt x="39" y="476"/>
                  <a:pt x="33" y="468"/>
                  <a:pt x="27" y="459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38120" y="2055600"/>
            <a:ext cx="9702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2 h wall limit,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60160" y="2109960"/>
            <a:ext cx="966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--export=NONE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276120" y="2447640"/>
            <a:ext cx="47880" cy="48240"/>
          </a:xfrm>
          <a:custGeom>
            <a:avLst/>
            <a:gdLst/>
            <a:ahLst/>
            <a:cxnLst/>
            <a:rect l="0" t="0" r="r" b="b"/>
            <a:pathLst>
              <a:path w="133" h="134">
                <a:moveTo>
                  <a:pt x="133" y="66"/>
                </a:moveTo>
                <a:cubicBezTo>
                  <a:pt x="133" y="75"/>
                  <a:pt x="131" y="84"/>
                  <a:pt x="128" y="92"/>
                </a:cubicBezTo>
                <a:cubicBezTo>
                  <a:pt x="125" y="100"/>
                  <a:pt x="120" y="107"/>
                  <a:pt x="114" y="113"/>
                </a:cubicBezTo>
                <a:cubicBezTo>
                  <a:pt x="108" y="119"/>
                  <a:pt x="100" y="124"/>
                  <a:pt x="92" y="128"/>
                </a:cubicBezTo>
                <a:cubicBezTo>
                  <a:pt x="83" y="132"/>
                  <a:pt x="75" y="134"/>
                  <a:pt x="66" y="134"/>
                </a:cubicBezTo>
                <a:cubicBezTo>
                  <a:pt x="57" y="134"/>
                  <a:pt x="49" y="132"/>
                  <a:pt x="41" y="128"/>
                </a:cubicBezTo>
                <a:cubicBezTo>
                  <a:pt x="33" y="124"/>
                  <a:pt x="25" y="119"/>
                  <a:pt x="19" y="113"/>
                </a:cubicBezTo>
                <a:cubicBezTo>
                  <a:pt x="13" y="107"/>
                  <a:pt x="8" y="100"/>
                  <a:pt x="5" y="92"/>
                </a:cubicBezTo>
                <a:cubicBezTo>
                  <a:pt x="1" y="84"/>
                  <a:pt x="0" y="75"/>
                  <a:pt x="0" y="66"/>
                </a:cubicBezTo>
                <a:cubicBezTo>
                  <a:pt x="0" y="58"/>
                  <a:pt x="1" y="49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5" y="13"/>
                  <a:pt x="33" y="9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2" y="5"/>
                </a:cubicBezTo>
                <a:cubicBezTo>
                  <a:pt x="100" y="9"/>
                  <a:pt x="108" y="13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8"/>
                  <a:pt x="133" y="6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438120" y="2371680"/>
            <a:ext cx="1962360" cy="190800"/>
          </a:xfrm>
          <a:custGeom>
            <a:avLst/>
            <a:gdLst/>
            <a:ahLst/>
            <a:cxnLst/>
            <a:rect l="0" t="0" r="r" b="b"/>
            <a:pathLst>
              <a:path w="5451" h="530">
                <a:moveTo>
                  <a:pt x="0" y="371"/>
                </a:moveTo>
                <a:lnTo>
                  <a:pt x="0" y="159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8" y="108"/>
                  <a:pt x="12" y="99"/>
                </a:cubicBezTo>
                <a:cubicBezTo>
                  <a:pt x="16" y="89"/>
                  <a:pt x="21" y="80"/>
                  <a:pt x="26" y="71"/>
                </a:cubicBezTo>
                <a:cubicBezTo>
                  <a:pt x="32" y="63"/>
                  <a:pt x="39" y="54"/>
                  <a:pt x="46" y="47"/>
                </a:cubicBezTo>
                <a:cubicBezTo>
                  <a:pt x="53" y="40"/>
                  <a:pt x="61" y="33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7" y="3"/>
                </a:cubicBezTo>
                <a:cubicBezTo>
                  <a:pt x="138" y="1"/>
                  <a:pt x="148" y="0"/>
                  <a:pt x="158" y="0"/>
                </a:cubicBezTo>
                <a:lnTo>
                  <a:pt x="5292" y="0"/>
                </a:lnTo>
                <a:cubicBezTo>
                  <a:pt x="5303" y="0"/>
                  <a:pt x="5313" y="1"/>
                  <a:pt x="5323" y="3"/>
                </a:cubicBezTo>
                <a:cubicBezTo>
                  <a:pt x="5333" y="5"/>
                  <a:pt x="5343" y="8"/>
                  <a:pt x="5353" y="12"/>
                </a:cubicBezTo>
                <a:cubicBezTo>
                  <a:pt x="5363" y="16"/>
                  <a:pt x="5372" y="21"/>
                  <a:pt x="5380" y="27"/>
                </a:cubicBezTo>
                <a:cubicBezTo>
                  <a:pt x="5389" y="33"/>
                  <a:pt x="5397" y="40"/>
                  <a:pt x="5405" y="47"/>
                </a:cubicBezTo>
                <a:cubicBezTo>
                  <a:pt x="5412" y="54"/>
                  <a:pt x="5418" y="63"/>
                  <a:pt x="5424" y="71"/>
                </a:cubicBezTo>
                <a:cubicBezTo>
                  <a:pt x="5430" y="80"/>
                  <a:pt x="5435" y="89"/>
                  <a:pt x="5439" y="99"/>
                </a:cubicBezTo>
                <a:cubicBezTo>
                  <a:pt x="5443" y="108"/>
                  <a:pt x="5446" y="118"/>
                  <a:pt x="5448" y="128"/>
                </a:cubicBezTo>
                <a:cubicBezTo>
                  <a:pt x="5450" y="139"/>
                  <a:pt x="5451" y="149"/>
                  <a:pt x="5451" y="159"/>
                </a:cubicBezTo>
                <a:lnTo>
                  <a:pt x="5451" y="371"/>
                </a:lnTo>
                <a:cubicBezTo>
                  <a:pt x="5451" y="381"/>
                  <a:pt x="5450" y="392"/>
                  <a:pt x="5448" y="402"/>
                </a:cubicBezTo>
                <a:cubicBezTo>
                  <a:pt x="5446" y="412"/>
                  <a:pt x="5443" y="422"/>
                  <a:pt x="5439" y="432"/>
                </a:cubicBezTo>
                <a:cubicBezTo>
                  <a:pt x="5435" y="441"/>
                  <a:pt x="5430" y="451"/>
                  <a:pt x="5424" y="459"/>
                </a:cubicBezTo>
                <a:cubicBezTo>
                  <a:pt x="5418" y="468"/>
                  <a:pt x="5412" y="476"/>
                  <a:pt x="5405" y="483"/>
                </a:cubicBezTo>
                <a:cubicBezTo>
                  <a:pt x="5397" y="491"/>
                  <a:pt x="5389" y="497"/>
                  <a:pt x="5380" y="503"/>
                </a:cubicBezTo>
                <a:cubicBezTo>
                  <a:pt x="5372" y="509"/>
                  <a:pt x="5363" y="514"/>
                  <a:pt x="5353" y="518"/>
                </a:cubicBezTo>
                <a:cubicBezTo>
                  <a:pt x="5343" y="522"/>
                  <a:pt x="5333" y="525"/>
                  <a:pt x="5323" y="527"/>
                </a:cubicBezTo>
                <a:cubicBezTo>
                  <a:pt x="5313" y="529"/>
                  <a:pt x="5303" y="530"/>
                  <a:pt x="5292" y="530"/>
                </a:cubicBezTo>
                <a:lnTo>
                  <a:pt x="158" y="530"/>
                </a:lnTo>
                <a:cubicBezTo>
                  <a:pt x="148" y="530"/>
                  <a:pt x="138" y="529"/>
                  <a:pt x="127" y="527"/>
                </a:cubicBezTo>
                <a:cubicBezTo>
                  <a:pt x="117" y="525"/>
                  <a:pt x="107" y="522"/>
                  <a:pt x="98" y="518"/>
                </a:cubicBezTo>
                <a:cubicBezTo>
                  <a:pt x="88" y="514"/>
                  <a:pt x="79" y="509"/>
                  <a:pt x="70" y="503"/>
                </a:cubicBezTo>
                <a:cubicBezTo>
                  <a:pt x="61" y="497"/>
                  <a:pt x="53" y="491"/>
                  <a:pt x="46" y="483"/>
                </a:cubicBezTo>
                <a:cubicBezTo>
                  <a:pt x="39" y="476"/>
                  <a:pt x="32" y="468"/>
                  <a:pt x="26" y="459"/>
                </a:cubicBezTo>
                <a:cubicBezTo>
                  <a:pt x="21" y="451"/>
                  <a:pt x="16" y="441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1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78600" y="2055600"/>
            <a:ext cx="8445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 (clean env)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276120" y="2724120"/>
            <a:ext cx="47880" cy="47880"/>
          </a:xfrm>
          <a:custGeom>
            <a:avLst/>
            <a:gdLst/>
            <a:ahLst/>
            <a:cxnLst/>
            <a:rect l="0" t="0" r="r" b="b"/>
            <a:pathLst>
              <a:path w="133" h="133">
                <a:moveTo>
                  <a:pt x="133" y="67"/>
                </a:moveTo>
                <a:cubicBezTo>
                  <a:pt x="133" y="76"/>
                  <a:pt x="131" y="84"/>
                  <a:pt x="128" y="92"/>
                </a:cubicBezTo>
                <a:cubicBezTo>
                  <a:pt x="125" y="100"/>
                  <a:pt x="120" y="107"/>
                  <a:pt x="114" y="114"/>
                </a:cubicBezTo>
                <a:cubicBezTo>
                  <a:pt x="108" y="120"/>
                  <a:pt x="100" y="124"/>
                  <a:pt x="92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3" y="124"/>
                  <a:pt x="25" y="120"/>
                  <a:pt x="19" y="114"/>
                </a:cubicBezTo>
                <a:cubicBezTo>
                  <a:pt x="13" y="107"/>
                  <a:pt x="8" y="100"/>
                  <a:pt x="5" y="92"/>
                </a:cubicBezTo>
                <a:cubicBezTo>
                  <a:pt x="1" y="84"/>
                  <a:pt x="0" y="76"/>
                  <a:pt x="0" y="67"/>
                </a:cubicBezTo>
                <a:cubicBezTo>
                  <a:pt x="0" y="58"/>
                  <a:pt x="1" y="50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5" y="13"/>
                  <a:pt x="33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3" y="1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50"/>
                  <a:pt x="133" y="58"/>
                  <a:pt x="133" y="67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87440" y="2395800"/>
            <a:ext cx="18586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module load openmpi/4.1.5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2050560" y="2623320"/>
            <a:ext cx="476640" cy="191160"/>
          </a:xfrm>
          <a:custGeom>
            <a:avLst/>
            <a:gdLst/>
            <a:ahLst/>
            <a:cxnLst/>
            <a:rect l="0" t="0" r="r" b="b"/>
            <a:pathLst>
              <a:path w="1324" h="531">
                <a:moveTo>
                  <a:pt x="0" y="37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166" y="0"/>
                </a:lnTo>
                <a:cubicBezTo>
                  <a:pt x="1176" y="0"/>
                  <a:pt x="1186" y="1"/>
                  <a:pt x="1197" y="3"/>
                </a:cubicBezTo>
                <a:cubicBezTo>
                  <a:pt x="1207" y="5"/>
                  <a:pt x="1217" y="8"/>
                  <a:pt x="1226" y="12"/>
                </a:cubicBezTo>
                <a:cubicBezTo>
                  <a:pt x="1236" y="16"/>
                  <a:pt x="1245" y="21"/>
                  <a:pt x="1254" y="27"/>
                </a:cubicBezTo>
                <a:cubicBezTo>
                  <a:pt x="1262" y="33"/>
                  <a:pt x="1270" y="39"/>
                  <a:pt x="1278" y="47"/>
                </a:cubicBezTo>
                <a:cubicBezTo>
                  <a:pt x="1285" y="54"/>
                  <a:pt x="1292" y="62"/>
                  <a:pt x="1298" y="71"/>
                </a:cubicBezTo>
                <a:cubicBezTo>
                  <a:pt x="1303" y="80"/>
                  <a:pt x="1308" y="89"/>
                  <a:pt x="1312" y="98"/>
                </a:cubicBezTo>
                <a:cubicBezTo>
                  <a:pt x="1316" y="108"/>
                  <a:pt x="1319" y="118"/>
                  <a:pt x="1321" y="128"/>
                </a:cubicBezTo>
                <a:cubicBezTo>
                  <a:pt x="1323" y="138"/>
                  <a:pt x="1324" y="149"/>
                  <a:pt x="1324" y="159"/>
                </a:cubicBezTo>
                <a:lnTo>
                  <a:pt x="1324" y="372"/>
                </a:lnTo>
                <a:cubicBezTo>
                  <a:pt x="1324" y="382"/>
                  <a:pt x="1323" y="393"/>
                  <a:pt x="1321" y="403"/>
                </a:cubicBezTo>
                <a:cubicBezTo>
                  <a:pt x="1319" y="413"/>
                  <a:pt x="1316" y="423"/>
                  <a:pt x="1312" y="433"/>
                </a:cubicBezTo>
                <a:cubicBezTo>
                  <a:pt x="1308" y="442"/>
                  <a:pt x="1303" y="451"/>
                  <a:pt x="1298" y="460"/>
                </a:cubicBezTo>
                <a:cubicBezTo>
                  <a:pt x="1292" y="469"/>
                  <a:pt x="1285" y="477"/>
                  <a:pt x="1278" y="484"/>
                </a:cubicBezTo>
                <a:cubicBezTo>
                  <a:pt x="1270" y="491"/>
                  <a:pt x="1262" y="498"/>
                  <a:pt x="1254" y="504"/>
                </a:cubicBezTo>
                <a:cubicBezTo>
                  <a:pt x="1245" y="510"/>
                  <a:pt x="1236" y="514"/>
                  <a:pt x="1226" y="518"/>
                </a:cubicBezTo>
                <a:cubicBezTo>
                  <a:pt x="1217" y="522"/>
                  <a:pt x="1207" y="525"/>
                  <a:pt x="1197" y="527"/>
                </a:cubicBezTo>
                <a:cubicBezTo>
                  <a:pt x="1186" y="530"/>
                  <a:pt x="1176" y="531"/>
                  <a:pt x="1166" y="531"/>
                </a:cubicBezTo>
                <a:lnTo>
                  <a:pt x="159" y="531"/>
                </a:lnTo>
                <a:cubicBezTo>
                  <a:pt x="149" y="531"/>
                  <a:pt x="138" y="530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10"/>
                  <a:pt x="71" y="504"/>
                </a:cubicBezTo>
                <a:cubicBezTo>
                  <a:pt x="62" y="498"/>
                  <a:pt x="54" y="491"/>
                  <a:pt x="47" y="484"/>
                </a:cubicBezTo>
                <a:cubicBezTo>
                  <a:pt x="40" y="477"/>
                  <a:pt x="33" y="469"/>
                  <a:pt x="27" y="460"/>
                </a:cubicBezTo>
                <a:cubicBezTo>
                  <a:pt x="21" y="451"/>
                  <a:pt x="16" y="442"/>
                  <a:pt x="12" y="433"/>
                </a:cubicBezTo>
                <a:cubicBezTo>
                  <a:pt x="8" y="423"/>
                  <a:pt x="5" y="413"/>
                  <a:pt x="3" y="403"/>
                </a:cubicBezTo>
                <a:cubicBezTo>
                  <a:pt x="1" y="393"/>
                  <a:pt x="0" y="382"/>
                  <a:pt x="0" y="37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38120" y="2617560"/>
            <a:ext cx="189360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IOR / mdtest </a:t>
            </a:r>
            <a:r>
              <a:rPr lang="en-US" sz="1280" b="1" u="none" strike="noStrike">
                <a:solidFill>
                  <a:srgbClr val="1F2328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4.1.0+dev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,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04560" y="2647800"/>
            <a:ext cx="372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pfind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2536396" y="2620620"/>
            <a:ext cx="10245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 dirty="0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 for find phase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276120" y="3314520"/>
            <a:ext cx="47880" cy="47880"/>
          </a:xfrm>
          <a:custGeom>
            <a:avLst/>
            <a:gdLst/>
            <a:ahLst/>
            <a:cxn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1"/>
                </a:cubicBezTo>
                <a:cubicBezTo>
                  <a:pt x="125" y="101"/>
                  <a:pt x="120" y="108"/>
                  <a:pt x="114" y="114"/>
                </a:cubicBezTo>
                <a:cubicBezTo>
                  <a:pt x="108" y="120"/>
                  <a:pt x="100" y="125"/>
                  <a:pt x="92" y="128"/>
                </a:cubicBezTo>
                <a:cubicBezTo>
                  <a:pt x="83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3" y="125"/>
                  <a:pt x="25" y="120"/>
                  <a:pt x="19" y="114"/>
                </a:cubicBezTo>
                <a:cubicBezTo>
                  <a:pt x="13" y="108"/>
                  <a:pt x="8" y="101"/>
                  <a:pt x="5" y="91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5" y="13"/>
                  <a:pt x="33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66760" y="2932560"/>
            <a:ext cx="155844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1A5490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Storage under test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276120" y="3590640"/>
            <a:ext cx="47880" cy="48240"/>
          </a:xfrm>
          <a:custGeom>
            <a:avLst/>
            <a:gdLst/>
            <a:ahLst/>
            <a:cxnLst/>
            <a:rect l="0" t="0" r="r" b="b"/>
            <a:pathLst>
              <a:path w="133" h="134">
                <a:moveTo>
                  <a:pt x="133" y="66"/>
                </a:moveTo>
                <a:cubicBezTo>
                  <a:pt x="133" y="75"/>
                  <a:pt x="131" y="84"/>
                  <a:pt x="128" y="92"/>
                </a:cubicBezTo>
                <a:cubicBezTo>
                  <a:pt x="125" y="100"/>
                  <a:pt x="120" y="107"/>
                  <a:pt x="114" y="113"/>
                </a:cubicBezTo>
                <a:cubicBezTo>
                  <a:pt x="108" y="119"/>
                  <a:pt x="100" y="124"/>
                  <a:pt x="92" y="129"/>
                </a:cubicBezTo>
                <a:cubicBezTo>
                  <a:pt x="83" y="132"/>
                  <a:pt x="75" y="134"/>
                  <a:pt x="66" y="134"/>
                </a:cubicBezTo>
                <a:cubicBezTo>
                  <a:pt x="57" y="134"/>
                  <a:pt x="49" y="132"/>
                  <a:pt x="41" y="129"/>
                </a:cubicBezTo>
                <a:cubicBezTo>
                  <a:pt x="33" y="124"/>
                  <a:pt x="25" y="119"/>
                  <a:pt x="19" y="113"/>
                </a:cubicBezTo>
                <a:cubicBezTo>
                  <a:pt x="13" y="107"/>
                  <a:pt x="8" y="100"/>
                  <a:pt x="5" y="92"/>
                </a:cubicBezTo>
                <a:cubicBezTo>
                  <a:pt x="1" y="84"/>
                  <a:pt x="0" y="75"/>
                  <a:pt x="0" y="66"/>
                </a:cubicBezTo>
                <a:cubicBezTo>
                  <a:pt x="0" y="58"/>
                  <a:pt x="1" y="49"/>
                  <a:pt x="5" y="41"/>
                </a:cubicBezTo>
                <a:cubicBezTo>
                  <a:pt x="8" y="33"/>
                  <a:pt x="13" y="26"/>
                  <a:pt x="19" y="20"/>
                </a:cubicBezTo>
                <a:cubicBezTo>
                  <a:pt x="25" y="13"/>
                  <a:pt x="33" y="9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2" y="5"/>
                </a:cubicBezTo>
                <a:cubicBezTo>
                  <a:pt x="100" y="9"/>
                  <a:pt x="108" y="13"/>
                  <a:pt x="114" y="20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8"/>
                  <a:pt x="133" y="6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38120" y="3208320"/>
            <a:ext cx="3690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1" u="none" strike="noStrike">
                <a:solidFill>
                  <a:srgbClr val="1F2328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POSIX </a:t>
            </a:r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API for every phase (no MPI-IO, no DAOS)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276120" y="3876480"/>
            <a:ext cx="47880" cy="47880"/>
          </a:xfrm>
          <a:custGeom>
            <a:avLst/>
            <a:gdLst/>
            <a:ahLst/>
            <a:cxn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1"/>
                </a:cubicBezTo>
                <a:cubicBezTo>
                  <a:pt x="125" y="100"/>
                  <a:pt x="120" y="107"/>
                  <a:pt x="114" y="113"/>
                </a:cubicBezTo>
                <a:cubicBezTo>
                  <a:pt x="108" y="119"/>
                  <a:pt x="100" y="125"/>
                  <a:pt x="92" y="128"/>
                </a:cubicBezTo>
                <a:cubicBezTo>
                  <a:pt x="83" y="132"/>
                  <a:pt x="75" y="133"/>
                  <a:pt x="66" y="133"/>
                </a:cubicBezTo>
                <a:cubicBezTo>
                  <a:pt x="57" y="133"/>
                  <a:pt x="49" y="132"/>
                  <a:pt x="41" y="128"/>
                </a:cubicBezTo>
                <a:cubicBezTo>
                  <a:pt x="33" y="125"/>
                  <a:pt x="25" y="119"/>
                  <a:pt x="19" y="113"/>
                </a:cubicBezTo>
                <a:cubicBezTo>
                  <a:pt x="13" y="107"/>
                  <a:pt x="8" y="100"/>
                  <a:pt x="5" y="91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3" y="26"/>
                  <a:pt x="19" y="19"/>
                </a:cubicBezTo>
                <a:cubicBezTo>
                  <a:pt x="25" y="13"/>
                  <a:pt x="33" y="8"/>
                  <a:pt x="41" y="5"/>
                </a:cubicBezTo>
                <a:cubicBezTo>
                  <a:pt x="49" y="2"/>
                  <a:pt x="57" y="0"/>
                  <a:pt x="66" y="0"/>
                </a:cubicBezTo>
                <a:cubicBezTo>
                  <a:pt x="75" y="0"/>
                  <a:pt x="83" y="2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6"/>
                  <a:pt x="125" y="33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8120" y="3484440"/>
            <a:ext cx="36903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Filesystem visible to clients: </a:t>
            </a:r>
            <a:r>
              <a:rPr lang="en-US" sz="1280" b="1" u="none" strike="noStrike">
                <a:solidFill>
                  <a:srgbClr val="1F2328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3722 TiB, 78 % full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2167380" y="3780900"/>
            <a:ext cx="619560" cy="190800"/>
          </a:xfrm>
          <a:custGeom>
            <a:avLst/>
            <a:gdLst/>
            <a:ahLst/>
            <a:cxnLst/>
            <a:rect l="0" t="0" r="r" b="b"/>
            <a:pathLst>
              <a:path w="1721" h="530">
                <a:moveTo>
                  <a:pt x="0" y="371"/>
                </a:moveTo>
                <a:lnTo>
                  <a:pt x="0" y="159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1562" y="0"/>
                </a:lnTo>
                <a:cubicBezTo>
                  <a:pt x="1572" y="0"/>
                  <a:pt x="1583" y="1"/>
                  <a:pt x="1593" y="3"/>
                </a:cubicBezTo>
                <a:cubicBezTo>
                  <a:pt x="1603" y="5"/>
                  <a:pt x="1613" y="8"/>
                  <a:pt x="1623" y="12"/>
                </a:cubicBezTo>
                <a:cubicBezTo>
                  <a:pt x="1632" y="16"/>
                  <a:pt x="1641" y="21"/>
                  <a:pt x="1650" y="27"/>
                </a:cubicBezTo>
                <a:cubicBezTo>
                  <a:pt x="1659" y="32"/>
                  <a:pt x="1667" y="39"/>
                  <a:pt x="1674" y="46"/>
                </a:cubicBezTo>
                <a:cubicBezTo>
                  <a:pt x="1682" y="54"/>
                  <a:pt x="1688" y="62"/>
                  <a:pt x="1694" y="70"/>
                </a:cubicBezTo>
                <a:cubicBezTo>
                  <a:pt x="1700" y="79"/>
                  <a:pt x="1705" y="88"/>
                  <a:pt x="1709" y="98"/>
                </a:cubicBezTo>
                <a:cubicBezTo>
                  <a:pt x="1713" y="107"/>
                  <a:pt x="1716" y="117"/>
                  <a:pt x="1718" y="128"/>
                </a:cubicBezTo>
                <a:cubicBezTo>
                  <a:pt x="1720" y="138"/>
                  <a:pt x="1721" y="148"/>
                  <a:pt x="1721" y="159"/>
                </a:cubicBezTo>
                <a:lnTo>
                  <a:pt x="1721" y="371"/>
                </a:lnTo>
                <a:cubicBezTo>
                  <a:pt x="1721" y="382"/>
                  <a:pt x="1720" y="392"/>
                  <a:pt x="1718" y="402"/>
                </a:cubicBezTo>
                <a:cubicBezTo>
                  <a:pt x="1716" y="412"/>
                  <a:pt x="1713" y="422"/>
                  <a:pt x="1709" y="432"/>
                </a:cubicBezTo>
                <a:cubicBezTo>
                  <a:pt x="1705" y="442"/>
                  <a:pt x="1700" y="451"/>
                  <a:pt x="1694" y="459"/>
                </a:cubicBezTo>
                <a:cubicBezTo>
                  <a:pt x="1688" y="468"/>
                  <a:pt x="1682" y="476"/>
                  <a:pt x="1674" y="484"/>
                </a:cubicBezTo>
                <a:cubicBezTo>
                  <a:pt x="1667" y="491"/>
                  <a:pt x="1659" y="497"/>
                  <a:pt x="1650" y="503"/>
                </a:cubicBezTo>
                <a:cubicBezTo>
                  <a:pt x="1641" y="509"/>
                  <a:pt x="1632" y="514"/>
                  <a:pt x="1623" y="518"/>
                </a:cubicBezTo>
                <a:cubicBezTo>
                  <a:pt x="1613" y="522"/>
                  <a:pt x="1603" y="525"/>
                  <a:pt x="1593" y="527"/>
                </a:cubicBezTo>
                <a:cubicBezTo>
                  <a:pt x="1583" y="529"/>
                  <a:pt x="1572" y="530"/>
                  <a:pt x="1562" y="530"/>
                </a:cubicBezTo>
                <a:lnTo>
                  <a:pt x="159" y="530"/>
                </a:lnTo>
                <a:cubicBezTo>
                  <a:pt x="148" y="530"/>
                  <a:pt x="138" y="529"/>
                  <a:pt x="128" y="527"/>
                </a:cubicBezTo>
                <a:cubicBezTo>
                  <a:pt x="117" y="525"/>
                  <a:pt x="108" y="522"/>
                  <a:pt x="98" y="518"/>
                </a:cubicBezTo>
                <a:cubicBezTo>
                  <a:pt x="88" y="514"/>
                  <a:pt x="79" y="509"/>
                  <a:pt x="70" y="503"/>
                </a:cubicBezTo>
                <a:cubicBezTo>
                  <a:pt x="62" y="497"/>
                  <a:pt x="54" y="491"/>
                  <a:pt x="46" y="484"/>
                </a:cubicBezTo>
                <a:cubicBezTo>
                  <a:pt x="39" y="476"/>
                  <a:pt x="32" y="468"/>
                  <a:pt x="27" y="459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38120" y="3770280"/>
            <a:ext cx="187740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No Lustre stripe tuning —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216340" y="3805020"/>
            <a:ext cx="5209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 dirty="0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setup()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276120" y="4162320"/>
            <a:ext cx="47880" cy="47880"/>
          </a:xfrm>
          <a:custGeom>
            <a:avLst/>
            <a:gdLst/>
            <a:ahLst/>
            <a:cxnLst/>
            <a:rect l="0" t="0" r="r" b="b"/>
            <a:pathLst>
              <a:path w="133" h="133">
                <a:moveTo>
                  <a:pt x="133" y="66"/>
                </a:moveTo>
                <a:cubicBezTo>
                  <a:pt x="133" y="75"/>
                  <a:pt x="131" y="83"/>
                  <a:pt x="128" y="91"/>
                </a:cubicBezTo>
                <a:cubicBezTo>
                  <a:pt x="125" y="99"/>
                  <a:pt x="120" y="107"/>
                  <a:pt x="114" y="113"/>
                </a:cubicBezTo>
                <a:cubicBezTo>
                  <a:pt x="108" y="119"/>
                  <a:pt x="100" y="125"/>
                  <a:pt x="92" y="128"/>
                </a:cubicBezTo>
                <a:cubicBezTo>
                  <a:pt x="83" y="131"/>
                  <a:pt x="75" y="133"/>
                  <a:pt x="66" y="133"/>
                </a:cubicBezTo>
                <a:cubicBezTo>
                  <a:pt x="57" y="133"/>
                  <a:pt x="49" y="131"/>
                  <a:pt x="41" y="128"/>
                </a:cubicBezTo>
                <a:cubicBezTo>
                  <a:pt x="33" y="125"/>
                  <a:pt x="25" y="119"/>
                  <a:pt x="19" y="113"/>
                </a:cubicBezTo>
                <a:cubicBezTo>
                  <a:pt x="13" y="107"/>
                  <a:pt x="8" y="99"/>
                  <a:pt x="5" y="91"/>
                </a:cubicBezTo>
                <a:cubicBezTo>
                  <a:pt x="1" y="83"/>
                  <a:pt x="0" y="75"/>
                  <a:pt x="0" y="66"/>
                </a:cubicBezTo>
                <a:cubicBezTo>
                  <a:pt x="0" y="57"/>
                  <a:pt x="1" y="49"/>
                  <a:pt x="5" y="41"/>
                </a:cubicBezTo>
                <a:cubicBezTo>
                  <a:pt x="8" y="33"/>
                  <a:pt x="13" y="25"/>
                  <a:pt x="19" y="19"/>
                </a:cubicBezTo>
                <a:cubicBezTo>
                  <a:pt x="25" y="13"/>
                  <a:pt x="33" y="8"/>
                  <a:pt x="41" y="5"/>
                </a:cubicBezTo>
                <a:cubicBezTo>
                  <a:pt x="49" y="1"/>
                  <a:pt x="57" y="0"/>
                  <a:pt x="66" y="0"/>
                </a:cubicBezTo>
                <a:cubicBezTo>
                  <a:pt x="75" y="0"/>
                  <a:pt x="83" y="1"/>
                  <a:pt x="92" y="5"/>
                </a:cubicBezTo>
                <a:cubicBezTo>
                  <a:pt x="100" y="8"/>
                  <a:pt x="108" y="13"/>
                  <a:pt x="114" y="19"/>
                </a:cubicBezTo>
                <a:cubicBezTo>
                  <a:pt x="120" y="25"/>
                  <a:pt x="125" y="33"/>
                  <a:pt x="128" y="41"/>
                </a:cubicBezTo>
                <a:cubicBezTo>
                  <a:pt x="131" y="49"/>
                  <a:pt x="133" y="57"/>
                  <a:pt x="133" y="6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2835900" y="3778380"/>
            <a:ext cx="10515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 dirty="0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 left at defaults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1523160" y="4065840"/>
            <a:ext cx="1667160" cy="200520"/>
          </a:xfrm>
          <a:custGeom>
            <a:avLst/>
            <a:gdLst/>
            <a:ahLst/>
            <a:cxnLst/>
            <a:rect l="0" t="0" r="r" b="b"/>
            <a:pathLst>
              <a:path w="4631" h="557">
                <a:moveTo>
                  <a:pt x="0" y="398"/>
                </a:moveTo>
                <a:lnTo>
                  <a:pt x="0" y="160"/>
                </a:lnTo>
                <a:cubicBezTo>
                  <a:pt x="0" y="149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89"/>
                  <a:pt x="21" y="80"/>
                  <a:pt x="27" y="72"/>
                </a:cubicBezTo>
                <a:cubicBezTo>
                  <a:pt x="33" y="63"/>
                  <a:pt x="39" y="55"/>
                  <a:pt x="47" y="48"/>
                </a:cubicBezTo>
                <a:cubicBezTo>
                  <a:pt x="54" y="40"/>
                  <a:pt x="62" y="34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473" y="0"/>
                </a:lnTo>
                <a:cubicBezTo>
                  <a:pt x="4483" y="0"/>
                  <a:pt x="4493" y="1"/>
                  <a:pt x="4504" y="3"/>
                </a:cubicBezTo>
                <a:cubicBezTo>
                  <a:pt x="4514" y="5"/>
                  <a:pt x="4524" y="8"/>
                  <a:pt x="4533" y="12"/>
                </a:cubicBezTo>
                <a:cubicBezTo>
                  <a:pt x="4543" y="16"/>
                  <a:pt x="4552" y="21"/>
                  <a:pt x="4561" y="27"/>
                </a:cubicBezTo>
                <a:cubicBezTo>
                  <a:pt x="4569" y="34"/>
                  <a:pt x="4577" y="40"/>
                  <a:pt x="4585" y="48"/>
                </a:cubicBezTo>
                <a:cubicBezTo>
                  <a:pt x="4592" y="55"/>
                  <a:pt x="4599" y="63"/>
                  <a:pt x="4605" y="72"/>
                </a:cubicBezTo>
                <a:cubicBezTo>
                  <a:pt x="4610" y="80"/>
                  <a:pt x="4615" y="89"/>
                  <a:pt x="4619" y="99"/>
                </a:cubicBezTo>
                <a:cubicBezTo>
                  <a:pt x="4623" y="109"/>
                  <a:pt x="4626" y="119"/>
                  <a:pt x="4628" y="129"/>
                </a:cubicBezTo>
                <a:cubicBezTo>
                  <a:pt x="4630" y="139"/>
                  <a:pt x="4631" y="149"/>
                  <a:pt x="4631" y="160"/>
                </a:cubicBezTo>
                <a:lnTo>
                  <a:pt x="4631" y="398"/>
                </a:lnTo>
                <a:cubicBezTo>
                  <a:pt x="4631" y="408"/>
                  <a:pt x="4630" y="419"/>
                  <a:pt x="4628" y="429"/>
                </a:cubicBezTo>
                <a:cubicBezTo>
                  <a:pt x="4626" y="439"/>
                  <a:pt x="4623" y="449"/>
                  <a:pt x="4619" y="459"/>
                </a:cubicBezTo>
                <a:cubicBezTo>
                  <a:pt x="4615" y="468"/>
                  <a:pt x="4610" y="478"/>
                  <a:pt x="4605" y="486"/>
                </a:cubicBezTo>
                <a:cubicBezTo>
                  <a:pt x="4599" y="495"/>
                  <a:pt x="4592" y="503"/>
                  <a:pt x="4585" y="510"/>
                </a:cubicBezTo>
                <a:cubicBezTo>
                  <a:pt x="4577" y="518"/>
                  <a:pt x="4569" y="524"/>
                  <a:pt x="4561" y="530"/>
                </a:cubicBezTo>
                <a:cubicBezTo>
                  <a:pt x="4552" y="536"/>
                  <a:pt x="4543" y="541"/>
                  <a:pt x="4533" y="545"/>
                </a:cubicBezTo>
                <a:cubicBezTo>
                  <a:pt x="4524" y="549"/>
                  <a:pt x="4514" y="552"/>
                  <a:pt x="4504" y="554"/>
                </a:cubicBezTo>
                <a:cubicBezTo>
                  <a:pt x="4493" y="556"/>
                  <a:pt x="4483" y="557"/>
                  <a:pt x="4473" y="557"/>
                </a:cubicBezTo>
                <a:lnTo>
                  <a:pt x="159" y="557"/>
                </a:lnTo>
                <a:cubicBezTo>
                  <a:pt x="148" y="557"/>
                  <a:pt x="138" y="556"/>
                  <a:pt x="128" y="554"/>
                </a:cubicBezTo>
                <a:cubicBezTo>
                  <a:pt x="118" y="552"/>
                  <a:pt x="108" y="549"/>
                  <a:pt x="98" y="545"/>
                </a:cubicBezTo>
                <a:cubicBezTo>
                  <a:pt x="88" y="541"/>
                  <a:pt x="79" y="536"/>
                  <a:pt x="71" y="530"/>
                </a:cubicBezTo>
                <a:cubicBezTo>
                  <a:pt x="62" y="524"/>
                  <a:pt x="54" y="518"/>
                  <a:pt x="47" y="510"/>
                </a:cubicBezTo>
                <a:cubicBezTo>
                  <a:pt x="39" y="503"/>
                  <a:pt x="33" y="495"/>
                  <a:pt x="27" y="486"/>
                </a:cubicBezTo>
                <a:cubicBezTo>
                  <a:pt x="21" y="478"/>
                  <a:pt x="16" y="468"/>
                  <a:pt x="12" y="459"/>
                </a:cubicBezTo>
                <a:cubicBezTo>
                  <a:pt x="8" y="449"/>
                  <a:pt x="5" y="439"/>
                  <a:pt x="3" y="429"/>
                </a:cubicBezTo>
                <a:cubicBezTo>
                  <a:pt x="1" y="419"/>
                  <a:pt x="0" y="408"/>
                  <a:pt x="0" y="398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38120" y="4056120"/>
            <a:ext cx="131148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 dirty="0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Stonewall </a:t>
            </a:r>
            <a:r>
              <a:rPr lang="en-US" sz="1280" b="1" u="none" strike="noStrike" dirty="0">
                <a:solidFill>
                  <a:srgbClr val="1F2328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300 s</a:t>
            </a:r>
            <a:r>
              <a:rPr lang="en-US" sz="1280" b="0" u="none" strike="noStrike" dirty="0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, </a:t>
            </a:r>
            <a:endParaRPr lang="en-US" sz="12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576440" y="4090320"/>
            <a:ext cx="1561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 dirty="0" err="1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stoneWallingWearOut</a:t>
            </a:r>
            <a:r>
              <a:rPr lang="en-US" sz="980" b="0" u="none" strike="noStrike" dirty="0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=1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232800" y="4035960"/>
            <a:ext cx="1423080" cy="178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i="1" u="none" strike="noStrike">
                <a:solidFill>
                  <a:srgbClr val="1F2328"/>
                </a:solidFill>
                <a:effectLst/>
                <a:uFillTx/>
                <a:latin typeface=".SFNS-Regular"/>
                <a:ea typeface=".SFNS-Regular"/>
              </a:rPr>
              <a:t>(equal work per rank)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266760" y="4361400"/>
            <a:ext cx="9576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1A5490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Submission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352440" y="4694400"/>
            <a:ext cx="357876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 dirty="0" err="1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sbatch</a:t>
            </a:r>
            <a:r>
              <a:rPr lang="en-US" sz="900" b="0" u="none" strike="noStrike" dirty="0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</a:t>
            </a:r>
            <a:r>
              <a:rPr lang="en-US" sz="900" b="0" u="none" strike="noStrike" dirty="0" err="1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slurm_script</a:t>
            </a:r>
            <a:r>
              <a:rPr lang="en-US" sz="900" b="0" u="none" strike="noStrike" dirty="0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     </a:t>
            </a:r>
            <a:r>
              <a:rPr lang="en-US" sz="90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archives </a:t>
            </a:r>
            <a:r>
              <a:rPr lang="en-US" sz="900" b="0" u="none" strike="noStrike" dirty="0" err="1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ini</a:t>
            </a:r>
            <a:r>
              <a:rPr lang="en-US" sz="900" b="0" u="none" strike="noStrike" dirty="0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 + script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52440" y="4837320"/>
            <a:ext cx="117072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inside the job: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352440" y="4980240"/>
            <a:ext cx="268452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srun ./io500 config.ini \    </a:t>
            </a:r>
            <a:r>
              <a:rPr lang="en-US" sz="900" b="0" u="none" strike="noStrike">
                <a:solidFill>
                  <a:srgbClr val="59636E"/>
                </a:solidFill>
                <a:effectLst/>
                <a:uFillTx/>
                <a:latin typeface="Menlo"/>
                <a:ea typeface="Menlo"/>
              </a:rPr>
              <a:t># 40 ranks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52440" y="5123160"/>
            <a:ext cx="1377000" cy="134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0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     --timestamp </a:t>
            </a:r>
            <a:r>
              <a:rPr lang="en-US" sz="900" b="0" u="none" strike="noStrike">
                <a:solidFill>
                  <a:srgbClr val="0550AE"/>
                </a:solidFill>
                <a:effectLst/>
                <a:uFillTx/>
                <a:latin typeface="Menlo"/>
                <a:ea typeface="Menlo"/>
              </a:rPr>
              <a:t>$TS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266760" y="5351400"/>
            <a:ext cx="40186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Result + datafile dirs are timestamped per run; the script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Freeform 60"/>
          <p:cNvSpPr/>
          <p:nvPr/>
        </p:nvSpPr>
        <p:spPr>
          <a:xfrm>
            <a:off x="904680" y="5628960"/>
            <a:ext cx="1067040" cy="191160"/>
          </a:xfrm>
          <a:custGeom>
            <a:avLst/>
            <a:gdLst/>
            <a:ahLst/>
            <a:cxnLst/>
            <a:rect l="0" t="0" r="r" b="b"/>
            <a:pathLst>
              <a:path w="2964" h="531">
                <a:moveTo>
                  <a:pt x="0" y="371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806" y="0"/>
                </a:lnTo>
                <a:cubicBezTo>
                  <a:pt x="2816" y="0"/>
                  <a:pt x="2826" y="1"/>
                  <a:pt x="2837" y="3"/>
                </a:cubicBezTo>
                <a:cubicBezTo>
                  <a:pt x="2847" y="5"/>
                  <a:pt x="2857" y="8"/>
                  <a:pt x="2866" y="12"/>
                </a:cubicBezTo>
                <a:cubicBezTo>
                  <a:pt x="2876" y="16"/>
                  <a:pt x="2885" y="21"/>
                  <a:pt x="2894" y="27"/>
                </a:cubicBezTo>
                <a:cubicBezTo>
                  <a:pt x="2902" y="33"/>
                  <a:pt x="2911" y="39"/>
                  <a:pt x="2918" y="47"/>
                </a:cubicBezTo>
                <a:cubicBezTo>
                  <a:pt x="2925" y="54"/>
                  <a:pt x="2932" y="62"/>
                  <a:pt x="2938" y="71"/>
                </a:cubicBezTo>
                <a:cubicBezTo>
                  <a:pt x="2943" y="80"/>
                  <a:pt x="2948" y="89"/>
                  <a:pt x="2952" y="98"/>
                </a:cubicBezTo>
                <a:cubicBezTo>
                  <a:pt x="2956" y="108"/>
                  <a:pt x="2959" y="118"/>
                  <a:pt x="2961" y="128"/>
                </a:cubicBezTo>
                <a:cubicBezTo>
                  <a:pt x="2963" y="138"/>
                  <a:pt x="2964" y="149"/>
                  <a:pt x="2964" y="159"/>
                </a:cubicBezTo>
                <a:lnTo>
                  <a:pt x="2964" y="371"/>
                </a:lnTo>
                <a:cubicBezTo>
                  <a:pt x="2964" y="381"/>
                  <a:pt x="2963" y="392"/>
                  <a:pt x="2961" y="402"/>
                </a:cubicBezTo>
                <a:cubicBezTo>
                  <a:pt x="2959" y="412"/>
                  <a:pt x="2956" y="422"/>
                  <a:pt x="2952" y="432"/>
                </a:cubicBezTo>
                <a:cubicBezTo>
                  <a:pt x="2948" y="441"/>
                  <a:pt x="2943" y="450"/>
                  <a:pt x="2938" y="459"/>
                </a:cubicBezTo>
                <a:cubicBezTo>
                  <a:pt x="2932" y="468"/>
                  <a:pt x="2925" y="476"/>
                  <a:pt x="2918" y="483"/>
                </a:cubicBezTo>
                <a:cubicBezTo>
                  <a:pt x="2911" y="490"/>
                  <a:pt x="2902" y="497"/>
                  <a:pt x="2894" y="504"/>
                </a:cubicBezTo>
                <a:cubicBezTo>
                  <a:pt x="2885" y="510"/>
                  <a:pt x="2876" y="514"/>
                  <a:pt x="2866" y="518"/>
                </a:cubicBezTo>
                <a:cubicBezTo>
                  <a:pt x="2857" y="522"/>
                  <a:pt x="2847" y="525"/>
                  <a:pt x="2837" y="527"/>
                </a:cubicBezTo>
                <a:cubicBezTo>
                  <a:pt x="2826" y="530"/>
                  <a:pt x="2816" y="531"/>
                  <a:pt x="2806" y="531"/>
                </a:cubicBezTo>
                <a:lnTo>
                  <a:pt x="159" y="531"/>
                </a:lnTo>
                <a:cubicBezTo>
                  <a:pt x="148" y="531"/>
                  <a:pt x="138" y="530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8" y="514"/>
                  <a:pt x="79" y="510"/>
                  <a:pt x="71" y="504"/>
                </a:cubicBezTo>
                <a:cubicBezTo>
                  <a:pt x="62" y="497"/>
                  <a:pt x="54" y="490"/>
                  <a:pt x="47" y="483"/>
                </a:cubicBezTo>
                <a:cubicBezTo>
                  <a:pt x="39" y="476"/>
                  <a:pt x="33" y="468"/>
                  <a:pt x="27" y="459"/>
                </a:cubicBezTo>
                <a:cubicBezTo>
                  <a:pt x="21" y="450"/>
                  <a:pt x="16" y="441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1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266760" y="5599080"/>
            <a:ext cx="62028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tar-balls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955800" y="5653440"/>
            <a:ext cx="966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results/&lt;ts&gt;/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974600" y="5599080"/>
            <a:ext cx="808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 at the end.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330960" y="1218240"/>
            <a:ext cx="288828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1A5490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Workload — 14 phases, fixed order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reeform 65"/>
          <p:cNvSpPr/>
          <p:nvPr/>
        </p:nvSpPr>
        <p:spPr>
          <a:xfrm>
            <a:off x="6524280" y="1485720"/>
            <a:ext cx="1143360" cy="190800"/>
          </a:xfrm>
          <a:custGeom>
            <a:avLst/>
            <a:gdLst/>
            <a:ahLst/>
            <a:cxnLst/>
            <a:rect l="0" t="0" r="r" b="b"/>
            <a:pathLst>
              <a:path w="3176" h="530">
                <a:moveTo>
                  <a:pt x="0" y="371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018" y="0"/>
                </a:lnTo>
                <a:cubicBezTo>
                  <a:pt x="3028" y="0"/>
                  <a:pt x="3038" y="1"/>
                  <a:pt x="3049" y="3"/>
                </a:cubicBezTo>
                <a:cubicBezTo>
                  <a:pt x="3059" y="5"/>
                  <a:pt x="3069" y="8"/>
                  <a:pt x="3078" y="12"/>
                </a:cubicBezTo>
                <a:cubicBezTo>
                  <a:pt x="3088" y="16"/>
                  <a:pt x="3097" y="21"/>
                  <a:pt x="3106" y="27"/>
                </a:cubicBezTo>
                <a:cubicBezTo>
                  <a:pt x="3115" y="33"/>
                  <a:pt x="3123" y="39"/>
                  <a:pt x="3130" y="46"/>
                </a:cubicBezTo>
                <a:cubicBezTo>
                  <a:pt x="3137" y="54"/>
                  <a:pt x="3144" y="62"/>
                  <a:pt x="3150" y="71"/>
                </a:cubicBezTo>
                <a:cubicBezTo>
                  <a:pt x="3155" y="79"/>
                  <a:pt x="3160" y="88"/>
                  <a:pt x="3164" y="98"/>
                </a:cubicBezTo>
                <a:cubicBezTo>
                  <a:pt x="3168" y="108"/>
                  <a:pt x="3171" y="118"/>
                  <a:pt x="3173" y="128"/>
                </a:cubicBezTo>
                <a:cubicBezTo>
                  <a:pt x="3175" y="138"/>
                  <a:pt x="3176" y="148"/>
                  <a:pt x="3176" y="159"/>
                </a:cubicBezTo>
                <a:lnTo>
                  <a:pt x="3176" y="371"/>
                </a:lnTo>
                <a:cubicBezTo>
                  <a:pt x="3176" y="382"/>
                  <a:pt x="3175" y="392"/>
                  <a:pt x="3173" y="402"/>
                </a:cubicBezTo>
                <a:cubicBezTo>
                  <a:pt x="3171" y="413"/>
                  <a:pt x="3168" y="423"/>
                  <a:pt x="3164" y="432"/>
                </a:cubicBezTo>
                <a:cubicBezTo>
                  <a:pt x="3160" y="442"/>
                  <a:pt x="3155" y="451"/>
                  <a:pt x="3150" y="460"/>
                </a:cubicBezTo>
                <a:cubicBezTo>
                  <a:pt x="3144" y="468"/>
                  <a:pt x="3137" y="476"/>
                  <a:pt x="3130" y="484"/>
                </a:cubicBezTo>
                <a:cubicBezTo>
                  <a:pt x="3123" y="491"/>
                  <a:pt x="3115" y="498"/>
                  <a:pt x="3106" y="503"/>
                </a:cubicBezTo>
                <a:cubicBezTo>
                  <a:pt x="3097" y="509"/>
                  <a:pt x="3088" y="514"/>
                  <a:pt x="3078" y="518"/>
                </a:cubicBezTo>
                <a:cubicBezTo>
                  <a:pt x="3069" y="522"/>
                  <a:pt x="3059" y="525"/>
                  <a:pt x="3049" y="527"/>
                </a:cubicBezTo>
                <a:cubicBezTo>
                  <a:pt x="3038" y="529"/>
                  <a:pt x="3028" y="530"/>
                  <a:pt x="3018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8"/>
                  <a:pt x="54" y="491"/>
                  <a:pt x="47" y="484"/>
                </a:cubicBezTo>
                <a:cubicBezTo>
                  <a:pt x="40" y="476"/>
                  <a:pt x="33" y="468"/>
                  <a:pt x="27" y="460"/>
                </a:cubicBezTo>
                <a:cubicBezTo>
                  <a:pt x="21" y="451"/>
                  <a:pt x="17" y="442"/>
                  <a:pt x="13" y="432"/>
                </a:cubicBezTo>
                <a:cubicBezTo>
                  <a:pt x="9" y="423"/>
                  <a:pt x="6" y="413"/>
                  <a:pt x="4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364800" y="1476720"/>
            <a:ext cx="14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1.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6571080" y="1509840"/>
            <a:ext cx="10411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ior-easy-write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664040" y="1476720"/>
            <a:ext cx="244692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 — file-per-proc, 2 MiB xfer, 9.46 TiB/rank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Freeform 69"/>
          <p:cNvSpPr/>
          <p:nvPr/>
        </p:nvSpPr>
        <p:spPr>
          <a:xfrm>
            <a:off x="6524280" y="1695240"/>
            <a:ext cx="1362600" cy="190800"/>
          </a:xfrm>
          <a:custGeom>
            <a:avLst/>
            <a:gdLst/>
            <a:ahLst/>
            <a:cxnLst/>
            <a:rect l="0" t="0" r="r" b="b"/>
            <a:pathLst>
              <a:path w="3785" h="530">
                <a:moveTo>
                  <a:pt x="0" y="371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626" y="0"/>
                </a:lnTo>
                <a:cubicBezTo>
                  <a:pt x="3637" y="0"/>
                  <a:pt x="3647" y="1"/>
                  <a:pt x="3657" y="3"/>
                </a:cubicBezTo>
                <a:cubicBezTo>
                  <a:pt x="3667" y="5"/>
                  <a:pt x="3677" y="8"/>
                  <a:pt x="3687" y="12"/>
                </a:cubicBezTo>
                <a:cubicBezTo>
                  <a:pt x="3697" y="16"/>
                  <a:pt x="3706" y="21"/>
                  <a:pt x="3714" y="27"/>
                </a:cubicBezTo>
                <a:cubicBezTo>
                  <a:pt x="3723" y="33"/>
                  <a:pt x="3731" y="39"/>
                  <a:pt x="3738" y="47"/>
                </a:cubicBezTo>
                <a:cubicBezTo>
                  <a:pt x="3746" y="54"/>
                  <a:pt x="3752" y="62"/>
                  <a:pt x="3758" y="71"/>
                </a:cubicBezTo>
                <a:cubicBezTo>
                  <a:pt x="3764" y="79"/>
                  <a:pt x="3769" y="88"/>
                  <a:pt x="3773" y="98"/>
                </a:cubicBezTo>
                <a:cubicBezTo>
                  <a:pt x="3777" y="108"/>
                  <a:pt x="3780" y="118"/>
                  <a:pt x="3782" y="128"/>
                </a:cubicBezTo>
                <a:cubicBezTo>
                  <a:pt x="3784" y="138"/>
                  <a:pt x="3785" y="148"/>
                  <a:pt x="3785" y="159"/>
                </a:cubicBezTo>
                <a:lnTo>
                  <a:pt x="3785" y="371"/>
                </a:lnTo>
                <a:cubicBezTo>
                  <a:pt x="3785" y="382"/>
                  <a:pt x="3784" y="392"/>
                  <a:pt x="3782" y="402"/>
                </a:cubicBezTo>
                <a:cubicBezTo>
                  <a:pt x="3780" y="413"/>
                  <a:pt x="3777" y="423"/>
                  <a:pt x="3773" y="432"/>
                </a:cubicBezTo>
                <a:cubicBezTo>
                  <a:pt x="3769" y="442"/>
                  <a:pt x="3764" y="451"/>
                  <a:pt x="3758" y="460"/>
                </a:cubicBezTo>
                <a:cubicBezTo>
                  <a:pt x="3752" y="468"/>
                  <a:pt x="3746" y="476"/>
                  <a:pt x="3738" y="484"/>
                </a:cubicBezTo>
                <a:cubicBezTo>
                  <a:pt x="3731" y="491"/>
                  <a:pt x="3723" y="498"/>
                  <a:pt x="3714" y="503"/>
                </a:cubicBezTo>
                <a:cubicBezTo>
                  <a:pt x="3706" y="509"/>
                  <a:pt x="3697" y="514"/>
                  <a:pt x="3687" y="518"/>
                </a:cubicBezTo>
                <a:cubicBezTo>
                  <a:pt x="3677" y="522"/>
                  <a:pt x="3667" y="525"/>
                  <a:pt x="3657" y="527"/>
                </a:cubicBezTo>
                <a:cubicBezTo>
                  <a:pt x="3647" y="529"/>
                  <a:pt x="3637" y="530"/>
                  <a:pt x="3626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8"/>
                  <a:pt x="54" y="491"/>
                  <a:pt x="47" y="484"/>
                </a:cubicBezTo>
                <a:cubicBezTo>
                  <a:pt x="40" y="476"/>
                  <a:pt x="33" y="468"/>
                  <a:pt x="27" y="460"/>
                </a:cubicBezTo>
                <a:cubicBezTo>
                  <a:pt x="21" y="451"/>
                  <a:pt x="17" y="442"/>
                  <a:pt x="13" y="432"/>
                </a:cubicBezTo>
                <a:cubicBezTo>
                  <a:pt x="9" y="423"/>
                  <a:pt x="6" y="413"/>
                  <a:pt x="4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6364800" y="1686240"/>
            <a:ext cx="14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2.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571080" y="1719720"/>
            <a:ext cx="1264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mdtest-easy-write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887600" y="1686240"/>
            <a:ext cx="17175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 — 1 M files/rank, unique dirs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Freeform 73"/>
          <p:cNvSpPr/>
          <p:nvPr/>
        </p:nvSpPr>
        <p:spPr>
          <a:xfrm>
            <a:off x="6524280" y="1895400"/>
            <a:ext cx="772200" cy="190800"/>
          </a:xfrm>
          <a:custGeom>
            <a:avLst/>
            <a:gdLst/>
            <a:ahLst/>
            <a:cxnLst/>
            <a:rect l="0" t="0" r="r" b="b"/>
            <a:pathLst>
              <a:path w="2145" h="530">
                <a:moveTo>
                  <a:pt x="0" y="371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lnTo>
                  <a:pt x="1986" y="0"/>
                </a:lnTo>
                <a:cubicBezTo>
                  <a:pt x="1996" y="0"/>
                  <a:pt x="2007" y="1"/>
                  <a:pt x="2017" y="3"/>
                </a:cubicBezTo>
                <a:cubicBezTo>
                  <a:pt x="2027" y="5"/>
                  <a:pt x="2037" y="8"/>
                  <a:pt x="2047" y="12"/>
                </a:cubicBezTo>
                <a:cubicBezTo>
                  <a:pt x="2056" y="16"/>
                  <a:pt x="2065" y="21"/>
                  <a:pt x="2074" y="26"/>
                </a:cubicBezTo>
                <a:cubicBezTo>
                  <a:pt x="2083" y="32"/>
                  <a:pt x="2091" y="39"/>
                  <a:pt x="2098" y="46"/>
                </a:cubicBezTo>
                <a:cubicBezTo>
                  <a:pt x="2105" y="54"/>
                  <a:pt x="2112" y="62"/>
                  <a:pt x="2118" y="70"/>
                </a:cubicBezTo>
                <a:cubicBezTo>
                  <a:pt x="2124" y="79"/>
                  <a:pt x="2129" y="88"/>
                  <a:pt x="2132" y="98"/>
                </a:cubicBezTo>
                <a:cubicBezTo>
                  <a:pt x="2136" y="107"/>
                  <a:pt x="2139" y="117"/>
                  <a:pt x="2142" y="127"/>
                </a:cubicBezTo>
                <a:cubicBezTo>
                  <a:pt x="2144" y="138"/>
                  <a:pt x="2145" y="148"/>
                  <a:pt x="2145" y="158"/>
                </a:cubicBezTo>
                <a:lnTo>
                  <a:pt x="2145" y="371"/>
                </a:lnTo>
                <a:cubicBezTo>
                  <a:pt x="2145" y="382"/>
                  <a:pt x="2144" y="392"/>
                  <a:pt x="2142" y="402"/>
                </a:cubicBezTo>
                <a:cubicBezTo>
                  <a:pt x="2139" y="412"/>
                  <a:pt x="2136" y="422"/>
                  <a:pt x="2132" y="432"/>
                </a:cubicBezTo>
                <a:cubicBezTo>
                  <a:pt x="2129" y="442"/>
                  <a:pt x="2124" y="451"/>
                  <a:pt x="2118" y="459"/>
                </a:cubicBezTo>
                <a:cubicBezTo>
                  <a:pt x="2112" y="468"/>
                  <a:pt x="2105" y="476"/>
                  <a:pt x="2098" y="483"/>
                </a:cubicBezTo>
                <a:cubicBezTo>
                  <a:pt x="2091" y="491"/>
                  <a:pt x="2083" y="497"/>
                  <a:pt x="2074" y="503"/>
                </a:cubicBezTo>
                <a:cubicBezTo>
                  <a:pt x="2065" y="509"/>
                  <a:pt x="2056" y="514"/>
                  <a:pt x="2047" y="518"/>
                </a:cubicBezTo>
                <a:cubicBezTo>
                  <a:pt x="2037" y="522"/>
                  <a:pt x="2027" y="525"/>
                  <a:pt x="2017" y="527"/>
                </a:cubicBezTo>
                <a:cubicBezTo>
                  <a:pt x="2007" y="529"/>
                  <a:pt x="1996" y="530"/>
                  <a:pt x="1986" y="530"/>
                </a:cubicBezTo>
                <a:lnTo>
                  <a:pt x="160" y="530"/>
                </a:lnTo>
                <a:cubicBezTo>
                  <a:pt x="150" y="530"/>
                  <a:pt x="139" y="529"/>
                  <a:pt x="129" y="527"/>
                </a:cubicBezTo>
                <a:cubicBezTo>
                  <a:pt x="119" y="525"/>
                  <a:pt x="109" y="522"/>
                  <a:pt x="99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3"/>
                </a:cubicBezTo>
                <a:cubicBezTo>
                  <a:pt x="40" y="476"/>
                  <a:pt x="33" y="468"/>
                  <a:pt x="27" y="459"/>
                </a:cubicBezTo>
                <a:cubicBezTo>
                  <a:pt x="21" y="451"/>
                  <a:pt x="17" y="442"/>
                  <a:pt x="13" y="432"/>
                </a:cubicBezTo>
                <a:cubicBezTo>
                  <a:pt x="9" y="422"/>
                  <a:pt x="6" y="412"/>
                  <a:pt x="4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6364800" y="1895760"/>
            <a:ext cx="14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3.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571080" y="1919520"/>
            <a:ext cx="6696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1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timestamp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Freeform 76"/>
          <p:cNvSpPr/>
          <p:nvPr/>
        </p:nvSpPr>
        <p:spPr>
          <a:xfrm>
            <a:off x="8153280" y="1895400"/>
            <a:ext cx="390960" cy="190800"/>
          </a:xfrm>
          <a:custGeom>
            <a:avLst/>
            <a:gdLst/>
            <a:ahLst/>
            <a:cxnLst/>
            <a:rect l="0" t="0" r="r" b="b"/>
            <a:pathLst>
              <a:path w="1086" h="530">
                <a:moveTo>
                  <a:pt x="0" y="371"/>
                </a:moveTo>
                <a:lnTo>
                  <a:pt x="0" y="158"/>
                </a:lnTo>
                <a:cubicBezTo>
                  <a:pt x="0" y="148"/>
                  <a:pt x="1" y="138"/>
                  <a:pt x="3" y="127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2" y="62"/>
                  <a:pt x="39" y="54"/>
                  <a:pt x="46" y="46"/>
                </a:cubicBezTo>
                <a:cubicBezTo>
                  <a:pt x="54" y="39"/>
                  <a:pt x="62" y="32"/>
                  <a:pt x="70" y="26"/>
                </a:cubicBezTo>
                <a:cubicBezTo>
                  <a:pt x="79" y="21"/>
                  <a:pt x="88" y="16"/>
                  <a:pt x="98" y="12"/>
                </a:cubicBezTo>
                <a:cubicBezTo>
                  <a:pt x="107" y="8"/>
                  <a:pt x="117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927" y="0"/>
                </a:lnTo>
                <a:cubicBezTo>
                  <a:pt x="937" y="0"/>
                  <a:pt x="948" y="1"/>
                  <a:pt x="958" y="3"/>
                </a:cubicBezTo>
                <a:cubicBezTo>
                  <a:pt x="968" y="5"/>
                  <a:pt x="978" y="8"/>
                  <a:pt x="988" y="12"/>
                </a:cubicBezTo>
                <a:cubicBezTo>
                  <a:pt x="997" y="16"/>
                  <a:pt x="1006" y="21"/>
                  <a:pt x="1015" y="26"/>
                </a:cubicBezTo>
                <a:cubicBezTo>
                  <a:pt x="1024" y="32"/>
                  <a:pt x="1032" y="39"/>
                  <a:pt x="1039" y="46"/>
                </a:cubicBezTo>
                <a:cubicBezTo>
                  <a:pt x="1046" y="54"/>
                  <a:pt x="1053" y="62"/>
                  <a:pt x="1059" y="70"/>
                </a:cubicBezTo>
                <a:cubicBezTo>
                  <a:pt x="1065" y="79"/>
                  <a:pt x="1070" y="88"/>
                  <a:pt x="1074" y="98"/>
                </a:cubicBezTo>
                <a:cubicBezTo>
                  <a:pt x="1078" y="107"/>
                  <a:pt x="1081" y="117"/>
                  <a:pt x="1083" y="127"/>
                </a:cubicBezTo>
                <a:cubicBezTo>
                  <a:pt x="1085" y="138"/>
                  <a:pt x="1086" y="148"/>
                  <a:pt x="1086" y="158"/>
                </a:cubicBezTo>
                <a:lnTo>
                  <a:pt x="1086" y="371"/>
                </a:lnTo>
                <a:cubicBezTo>
                  <a:pt x="1086" y="382"/>
                  <a:pt x="1085" y="392"/>
                  <a:pt x="1083" y="402"/>
                </a:cubicBezTo>
                <a:cubicBezTo>
                  <a:pt x="1081" y="412"/>
                  <a:pt x="1078" y="422"/>
                  <a:pt x="1074" y="432"/>
                </a:cubicBezTo>
                <a:cubicBezTo>
                  <a:pt x="1070" y="442"/>
                  <a:pt x="1065" y="451"/>
                  <a:pt x="1059" y="459"/>
                </a:cubicBezTo>
                <a:cubicBezTo>
                  <a:pt x="1053" y="468"/>
                  <a:pt x="1046" y="476"/>
                  <a:pt x="1039" y="483"/>
                </a:cubicBezTo>
                <a:cubicBezTo>
                  <a:pt x="1032" y="491"/>
                  <a:pt x="1024" y="497"/>
                  <a:pt x="1015" y="503"/>
                </a:cubicBezTo>
                <a:cubicBezTo>
                  <a:pt x="1006" y="509"/>
                  <a:pt x="997" y="514"/>
                  <a:pt x="988" y="518"/>
                </a:cubicBezTo>
                <a:cubicBezTo>
                  <a:pt x="978" y="522"/>
                  <a:pt x="968" y="525"/>
                  <a:pt x="958" y="527"/>
                </a:cubicBezTo>
                <a:cubicBezTo>
                  <a:pt x="948" y="529"/>
                  <a:pt x="937" y="530"/>
                  <a:pt x="927" y="530"/>
                </a:cubicBezTo>
                <a:lnTo>
                  <a:pt x="159" y="530"/>
                </a:lnTo>
                <a:cubicBezTo>
                  <a:pt x="148" y="530"/>
                  <a:pt x="138" y="529"/>
                  <a:pt x="128" y="527"/>
                </a:cubicBezTo>
                <a:cubicBezTo>
                  <a:pt x="117" y="525"/>
                  <a:pt x="107" y="522"/>
                  <a:pt x="98" y="518"/>
                </a:cubicBezTo>
                <a:cubicBezTo>
                  <a:pt x="88" y="514"/>
                  <a:pt x="79" y="509"/>
                  <a:pt x="70" y="503"/>
                </a:cubicBezTo>
                <a:cubicBezTo>
                  <a:pt x="62" y="497"/>
                  <a:pt x="54" y="491"/>
                  <a:pt x="46" y="483"/>
                </a:cubicBezTo>
                <a:cubicBezTo>
                  <a:pt x="39" y="476"/>
                  <a:pt x="32" y="468"/>
                  <a:pt x="27" y="459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291440" y="1895760"/>
            <a:ext cx="8028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 ← anchor for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200440" y="1919520"/>
            <a:ext cx="2980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find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Freeform 79"/>
          <p:cNvSpPr/>
          <p:nvPr/>
        </p:nvSpPr>
        <p:spPr>
          <a:xfrm>
            <a:off x="6524280" y="2104920"/>
            <a:ext cx="1143360" cy="190800"/>
          </a:xfrm>
          <a:custGeom>
            <a:avLst/>
            <a:gdLst/>
            <a:ahLst/>
            <a:cxnLst/>
            <a:rect l="0" t="0" r="r" b="b"/>
            <a:pathLst>
              <a:path w="3176" h="530">
                <a:moveTo>
                  <a:pt x="0" y="371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018" y="0"/>
                </a:lnTo>
                <a:cubicBezTo>
                  <a:pt x="3028" y="0"/>
                  <a:pt x="3038" y="1"/>
                  <a:pt x="3049" y="3"/>
                </a:cubicBezTo>
                <a:cubicBezTo>
                  <a:pt x="3059" y="5"/>
                  <a:pt x="3069" y="8"/>
                  <a:pt x="3078" y="12"/>
                </a:cubicBezTo>
                <a:cubicBezTo>
                  <a:pt x="3088" y="16"/>
                  <a:pt x="3097" y="21"/>
                  <a:pt x="3106" y="27"/>
                </a:cubicBezTo>
                <a:cubicBezTo>
                  <a:pt x="3115" y="32"/>
                  <a:pt x="3123" y="39"/>
                  <a:pt x="3130" y="46"/>
                </a:cubicBezTo>
                <a:cubicBezTo>
                  <a:pt x="3137" y="54"/>
                  <a:pt x="3144" y="62"/>
                  <a:pt x="3150" y="70"/>
                </a:cubicBezTo>
                <a:cubicBezTo>
                  <a:pt x="3155" y="79"/>
                  <a:pt x="3160" y="88"/>
                  <a:pt x="3164" y="98"/>
                </a:cubicBezTo>
                <a:cubicBezTo>
                  <a:pt x="3168" y="107"/>
                  <a:pt x="3171" y="117"/>
                  <a:pt x="3173" y="128"/>
                </a:cubicBezTo>
                <a:cubicBezTo>
                  <a:pt x="3175" y="138"/>
                  <a:pt x="3176" y="148"/>
                  <a:pt x="3176" y="159"/>
                </a:cubicBezTo>
                <a:lnTo>
                  <a:pt x="3176" y="371"/>
                </a:lnTo>
                <a:cubicBezTo>
                  <a:pt x="3176" y="382"/>
                  <a:pt x="3175" y="392"/>
                  <a:pt x="3173" y="402"/>
                </a:cubicBezTo>
                <a:cubicBezTo>
                  <a:pt x="3171" y="412"/>
                  <a:pt x="3168" y="422"/>
                  <a:pt x="3164" y="432"/>
                </a:cubicBezTo>
                <a:cubicBezTo>
                  <a:pt x="3160" y="442"/>
                  <a:pt x="3155" y="451"/>
                  <a:pt x="3150" y="459"/>
                </a:cubicBezTo>
                <a:cubicBezTo>
                  <a:pt x="3144" y="468"/>
                  <a:pt x="3137" y="476"/>
                  <a:pt x="3130" y="483"/>
                </a:cubicBezTo>
                <a:cubicBezTo>
                  <a:pt x="3123" y="491"/>
                  <a:pt x="3115" y="497"/>
                  <a:pt x="3106" y="503"/>
                </a:cubicBezTo>
                <a:cubicBezTo>
                  <a:pt x="3097" y="509"/>
                  <a:pt x="3088" y="514"/>
                  <a:pt x="3078" y="518"/>
                </a:cubicBezTo>
                <a:cubicBezTo>
                  <a:pt x="3069" y="522"/>
                  <a:pt x="3059" y="525"/>
                  <a:pt x="3049" y="527"/>
                </a:cubicBezTo>
                <a:cubicBezTo>
                  <a:pt x="3038" y="529"/>
                  <a:pt x="3028" y="530"/>
                  <a:pt x="3018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3"/>
                </a:cubicBezTo>
                <a:cubicBezTo>
                  <a:pt x="40" y="476"/>
                  <a:pt x="33" y="468"/>
                  <a:pt x="27" y="459"/>
                </a:cubicBezTo>
                <a:cubicBezTo>
                  <a:pt x="21" y="451"/>
                  <a:pt x="17" y="442"/>
                  <a:pt x="13" y="432"/>
                </a:cubicBezTo>
                <a:cubicBezTo>
                  <a:pt x="9" y="422"/>
                  <a:pt x="6" y="412"/>
                  <a:pt x="4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6364800" y="2105280"/>
            <a:ext cx="14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4.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6571080" y="2129040"/>
            <a:ext cx="10411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ior-hard-write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7664040" y="2105280"/>
            <a:ext cx="1791360" cy="187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 — shared file, </a:t>
            </a:r>
            <a:r>
              <a:rPr lang="en-US" sz="1050" b="1" u="none" strike="noStrike">
                <a:solidFill>
                  <a:srgbClr val="1F2328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47 008 B </a:t>
            </a:r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xfer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Freeform 83"/>
          <p:cNvSpPr/>
          <p:nvPr/>
        </p:nvSpPr>
        <p:spPr>
          <a:xfrm>
            <a:off x="6524280" y="2314440"/>
            <a:ext cx="1362600" cy="190800"/>
          </a:xfrm>
          <a:custGeom>
            <a:avLst/>
            <a:gdLst/>
            <a:ahLst/>
            <a:cxnLst/>
            <a:rect l="0" t="0" r="r" b="b"/>
            <a:pathLst>
              <a:path w="3785" h="530">
                <a:moveTo>
                  <a:pt x="0" y="371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626" y="0"/>
                </a:lnTo>
                <a:cubicBezTo>
                  <a:pt x="3637" y="0"/>
                  <a:pt x="3647" y="1"/>
                  <a:pt x="3657" y="3"/>
                </a:cubicBezTo>
                <a:cubicBezTo>
                  <a:pt x="3667" y="5"/>
                  <a:pt x="3677" y="8"/>
                  <a:pt x="3687" y="12"/>
                </a:cubicBezTo>
                <a:cubicBezTo>
                  <a:pt x="3697" y="16"/>
                  <a:pt x="3706" y="21"/>
                  <a:pt x="3714" y="27"/>
                </a:cubicBezTo>
                <a:cubicBezTo>
                  <a:pt x="3723" y="32"/>
                  <a:pt x="3731" y="39"/>
                  <a:pt x="3738" y="46"/>
                </a:cubicBezTo>
                <a:cubicBezTo>
                  <a:pt x="3746" y="54"/>
                  <a:pt x="3752" y="62"/>
                  <a:pt x="3758" y="70"/>
                </a:cubicBezTo>
                <a:cubicBezTo>
                  <a:pt x="3764" y="79"/>
                  <a:pt x="3769" y="88"/>
                  <a:pt x="3773" y="98"/>
                </a:cubicBezTo>
                <a:cubicBezTo>
                  <a:pt x="3777" y="108"/>
                  <a:pt x="3780" y="117"/>
                  <a:pt x="3782" y="128"/>
                </a:cubicBezTo>
                <a:cubicBezTo>
                  <a:pt x="3784" y="138"/>
                  <a:pt x="3785" y="148"/>
                  <a:pt x="3785" y="159"/>
                </a:cubicBezTo>
                <a:lnTo>
                  <a:pt x="3785" y="371"/>
                </a:lnTo>
                <a:cubicBezTo>
                  <a:pt x="3785" y="382"/>
                  <a:pt x="3784" y="392"/>
                  <a:pt x="3782" y="402"/>
                </a:cubicBezTo>
                <a:cubicBezTo>
                  <a:pt x="3780" y="412"/>
                  <a:pt x="3777" y="422"/>
                  <a:pt x="3773" y="432"/>
                </a:cubicBezTo>
                <a:cubicBezTo>
                  <a:pt x="3769" y="442"/>
                  <a:pt x="3764" y="451"/>
                  <a:pt x="3758" y="459"/>
                </a:cubicBezTo>
                <a:cubicBezTo>
                  <a:pt x="3752" y="468"/>
                  <a:pt x="3746" y="476"/>
                  <a:pt x="3738" y="484"/>
                </a:cubicBezTo>
                <a:cubicBezTo>
                  <a:pt x="3731" y="491"/>
                  <a:pt x="3723" y="497"/>
                  <a:pt x="3714" y="503"/>
                </a:cubicBezTo>
                <a:cubicBezTo>
                  <a:pt x="3706" y="509"/>
                  <a:pt x="3697" y="514"/>
                  <a:pt x="3687" y="518"/>
                </a:cubicBezTo>
                <a:cubicBezTo>
                  <a:pt x="3677" y="522"/>
                  <a:pt x="3667" y="525"/>
                  <a:pt x="3657" y="527"/>
                </a:cubicBezTo>
                <a:cubicBezTo>
                  <a:pt x="3647" y="529"/>
                  <a:pt x="3637" y="530"/>
                  <a:pt x="3626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4"/>
                </a:cubicBezTo>
                <a:cubicBezTo>
                  <a:pt x="40" y="476"/>
                  <a:pt x="33" y="468"/>
                  <a:pt x="27" y="459"/>
                </a:cubicBezTo>
                <a:cubicBezTo>
                  <a:pt x="21" y="451"/>
                  <a:pt x="17" y="442"/>
                  <a:pt x="13" y="432"/>
                </a:cubicBezTo>
                <a:cubicBezTo>
                  <a:pt x="9" y="422"/>
                  <a:pt x="6" y="412"/>
                  <a:pt x="4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6364800" y="2305440"/>
            <a:ext cx="14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5.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571080" y="2338560"/>
            <a:ext cx="126432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mdtest-hard-write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887600" y="2305440"/>
            <a:ext cx="18504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 — 1 M files/rank, 3 901 B each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Freeform 87"/>
          <p:cNvSpPr/>
          <p:nvPr/>
        </p:nvSpPr>
        <p:spPr>
          <a:xfrm>
            <a:off x="6524280" y="2523960"/>
            <a:ext cx="390960" cy="190800"/>
          </a:xfrm>
          <a:custGeom>
            <a:avLst/>
            <a:gdLst/>
            <a:ahLst/>
            <a:cxnLst/>
            <a:rect l="0" t="0" r="r" b="b"/>
            <a:pathLst>
              <a:path w="1086" h="530">
                <a:moveTo>
                  <a:pt x="0" y="371"/>
                </a:moveTo>
                <a:lnTo>
                  <a:pt x="0" y="160"/>
                </a:lnTo>
                <a:cubicBezTo>
                  <a:pt x="0" y="149"/>
                  <a:pt x="1" y="139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927" y="0"/>
                </a:lnTo>
                <a:cubicBezTo>
                  <a:pt x="938" y="0"/>
                  <a:pt x="948" y="1"/>
                  <a:pt x="958" y="3"/>
                </a:cubicBezTo>
                <a:cubicBezTo>
                  <a:pt x="969" y="5"/>
                  <a:pt x="979" y="8"/>
                  <a:pt x="988" y="12"/>
                </a:cubicBezTo>
                <a:cubicBezTo>
                  <a:pt x="998" y="16"/>
                  <a:pt x="1007" y="21"/>
                  <a:pt x="1016" y="27"/>
                </a:cubicBezTo>
                <a:cubicBezTo>
                  <a:pt x="1024" y="33"/>
                  <a:pt x="1032" y="39"/>
                  <a:pt x="1040" y="46"/>
                </a:cubicBezTo>
                <a:cubicBezTo>
                  <a:pt x="1047" y="54"/>
                  <a:pt x="1054" y="62"/>
                  <a:pt x="1059" y="71"/>
                </a:cubicBezTo>
                <a:cubicBezTo>
                  <a:pt x="1065" y="79"/>
                  <a:pt x="1070" y="88"/>
                  <a:pt x="1074" y="98"/>
                </a:cubicBezTo>
                <a:cubicBezTo>
                  <a:pt x="1078" y="108"/>
                  <a:pt x="1081" y="118"/>
                  <a:pt x="1083" y="128"/>
                </a:cubicBezTo>
                <a:cubicBezTo>
                  <a:pt x="1085" y="139"/>
                  <a:pt x="1086" y="149"/>
                  <a:pt x="1086" y="160"/>
                </a:cubicBezTo>
                <a:lnTo>
                  <a:pt x="1086" y="371"/>
                </a:lnTo>
                <a:cubicBezTo>
                  <a:pt x="1086" y="382"/>
                  <a:pt x="1085" y="392"/>
                  <a:pt x="1083" y="402"/>
                </a:cubicBezTo>
                <a:cubicBezTo>
                  <a:pt x="1081" y="413"/>
                  <a:pt x="1078" y="422"/>
                  <a:pt x="1074" y="432"/>
                </a:cubicBezTo>
                <a:cubicBezTo>
                  <a:pt x="1070" y="442"/>
                  <a:pt x="1065" y="451"/>
                  <a:pt x="1059" y="460"/>
                </a:cubicBezTo>
                <a:cubicBezTo>
                  <a:pt x="1054" y="468"/>
                  <a:pt x="1047" y="476"/>
                  <a:pt x="1040" y="484"/>
                </a:cubicBezTo>
                <a:cubicBezTo>
                  <a:pt x="1032" y="491"/>
                  <a:pt x="1024" y="498"/>
                  <a:pt x="1016" y="503"/>
                </a:cubicBezTo>
                <a:cubicBezTo>
                  <a:pt x="1007" y="509"/>
                  <a:pt x="998" y="514"/>
                  <a:pt x="988" y="518"/>
                </a:cubicBezTo>
                <a:cubicBezTo>
                  <a:pt x="979" y="522"/>
                  <a:pt x="969" y="525"/>
                  <a:pt x="958" y="527"/>
                </a:cubicBezTo>
                <a:cubicBezTo>
                  <a:pt x="948" y="529"/>
                  <a:pt x="938" y="530"/>
                  <a:pt x="927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8"/>
                  <a:pt x="54" y="491"/>
                  <a:pt x="47" y="484"/>
                </a:cubicBezTo>
                <a:cubicBezTo>
                  <a:pt x="40" y="476"/>
                  <a:pt x="33" y="468"/>
                  <a:pt x="27" y="460"/>
                </a:cubicBezTo>
                <a:cubicBezTo>
                  <a:pt x="21" y="451"/>
                  <a:pt x="17" y="442"/>
                  <a:pt x="13" y="432"/>
                </a:cubicBezTo>
                <a:cubicBezTo>
                  <a:pt x="9" y="422"/>
                  <a:pt x="6" y="413"/>
                  <a:pt x="4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6364800" y="2514960"/>
            <a:ext cx="14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6.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6571080" y="2548080"/>
            <a:ext cx="2980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find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Freeform 90"/>
          <p:cNvSpPr/>
          <p:nvPr/>
        </p:nvSpPr>
        <p:spPr>
          <a:xfrm>
            <a:off x="7105320" y="2523960"/>
            <a:ext cx="476640" cy="190800"/>
          </a:xfrm>
          <a:custGeom>
            <a:avLst/>
            <a:gdLst/>
            <a:ahLst/>
            <a:cxnLst/>
            <a:rect l="0" t="0" r="r" b="b"/>
            <a:pathLst>
              <a:path w="1324" h="530">
                <a:moveTo>
                  <a:pt x="0" y="371"/>
                </a:moveTo>
                <a:lnTo>
                  <a:pt x="0" y="160"/>
                </a:lnTo>
                <a:cubicBezTo>
                  <a:pt x="0" y="149"/>
                  <a:pt x="1" y="139"/>
                  <a:pt x="3" y="128"/>
                </a:cubicBezTo>
                <a:cubicBezTo>
                  <a:pt x="5" y="118"/>
                  <a:pt x="9" y="108"/>
                  <a:pt x="12" y="98"/>
                </a:cubicBezTo>
                <a:cubicBezTo>
                  <a:pt x="16" y="88"/>
                  <a:pt x="21" y="79"/>
                  <a:pt x="27" y="71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166" y="0"/>
                </a:lnTo>
                <a:cubicBezTo>
                  <a:pt x="1176" y="0"/>
                  <a:pt x="1186" y="1"/>
                  <a:pt x="1197" y="3"/>
                </a:cubicBezTo>
                <a:cubicBezTo>
                  <a:pt x="1207" y="5"/>
                  <a:pt x="1217" y="8"/>
                  <a:pt x="1226" y="12"/>
                </a:cubicBezTo>
                <a:cubicBezTo>
                  <a:pt x="1236" y="16"/>
                  <a:pt x="1245" y="21"/>
                  <a:pt x="1254" y="27"/>
                </a:cubicBezTo>
                <a:cubicBezTo>
                  <a:pt x="1262" y="33"/>
                  <a:pt x="1270" y="39"/>
                  <a:pt x="1278" y="46"/>
                </a:cubicBezTo>
                <a:cubicBezTo>
                  <a:pt x="1285" y="54"/>
                  <a:pt x="1292" y="62"/>
                  <a:pt x="1298" y="71"/>
                </a:cubicBezTo>
                <a:cubicBezTo>
                  <a:pt x="1303" y="79"/>
                  <a:pt x="1308" y="88"/>
                  <a:pt x="1312" y="98"/>
                </a:cubicBezTo>
                <a:cubicBezTo>
                  <a:pt x="1316" y="108"/>
                  <a:pt x="1319" y="118"/>
                  <a:pt x="1321" y="128"/>
                </a:cubicBezTo>
                <a:cubicBezTo>
                  <a:pt x="1323" y="139"/>
                  <a:pt x="1324" y="149"/>
                  <a:pt x="1324" y="160"/>
                </a:cubicBezTo>
                <a:lnTo>
                  <a:pt x="1324" y="371"/>
                </a:lnTo>
                <a:cubicBezTo>
                  <a:pt x="1324" y="382"/>
                  <a:pt x="1323" y="392"/>
                  <a:pt x="1321" y="402"/>
                </a:cubicBezTo>
                <a:cubicBezTo>
                  <a:pt x="1319" y="413"/>
                  <a:pt x="1316" y="422"/>
                  <a:pt x="1312" y="432"/>
                </a:cubicBezTo>
                <a:cubicBezTo>
                  <a:pt x="1308" y="442"/>
                  <a:pt x="1303" y="451"/>
                  <a:pt x="1298" y="460"/>
                </a:cubicBezTo>
                <a:cubicBezTo>
                  <a:pt x="1292" y="468"/>
                  <a:pt x="1285" y="476"/>
                  <a:pt x="1278" y="484"/>
                </a:cubicBezTo>
                <a:cubicBezTo>
                  <a:pt x="1270" y="491"/>
                  <a:pt x="1262" y="498"/>
                  <a:pt x="1254" y="503"/>
                </a:cubicBezTo>
                <a:cubicBezTo>
                  <a:pt x="1245" y="509"/>
                  <a:pt x="1236" y="514"/>
                  <a:pt x="1226" y="518"/>
                </a:cubicBezTo>
                <a:cubicBezTo>
                  <a:pt x="1217" y="522"/>
                  <a:pt x="1207" y="525"/>
                  <a:pt x="1197" y="527"/>
                </a:cubicBezTo>
                <a:cubicBezTo>
                  <a:pt x="1186" y="529"/>
                  <a:pt x="1176" y="530"/>
                  <a:pt x="1166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8"/>
                  <a:pt x="54" y="491"/>
                  <a:pt x="47" y="484"/>
                </a:cubicBezTo>
                <a:cubicBezTo>
                  <a:pt x="40" y="476"/>
                  <a:pt x="33" y="468"/>
                  <a:pt x="27" y="460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9" y="422"/>
                  <a:pt x="5" y="413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918480" y="2514960"/>
            <a:ext cx="20700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 —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TextBox 92"/>
          <p:cNvSpPr txBox="1"/>
          <p:nvPr/>
        </p:nvSpPr>
        <p:spPr>
          <a:xfrm>
            <a:off x="7155360" y="2548080"/>
            <a:ext cx="372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pfind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7577640" y="2514960"/>
            <a:ext cx="212328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, queue 20 k, work-stealing, hashing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Freeform 94"/>
          <p:cNvSpPr/>
          <p:nvPr/>
        </p:nvSpPr>
        <p:spPr>
          <a:xfrm>
            <a:off x="6524280" y="2724120"/>
            <a:ext cx="1067400" cy="190800"/>
          </a:xfrm>
          <a:custGeom>
            <a:avLst/>
            <a:gdLst/>
            <a:ahLst/>
            <a:cxnLst/>
            <a:rect l="0" t="0" r="r" b="b"/>
            <a:pathLst>
              <a:path w="2965" h="530">
                <a:moveTo>
                  <a:pt x="0" y="371"/>
                </a:moveTo>
                <a:lnTo>
                  <a:pt x="0" y="159"/>
                </a:lnTo>
                <a:cubicBezTo>
                  <a:pt x="0" y="149"/>
                  <a:pt x="1" y="139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1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806" y="0"/>
                </a:lnTo>
                <a:cubicBezTo>
                  <a:pt x="2816" y="0"/>
                  <a:pt x="2827" y="1"/>
                  <a:pt x="2837" y="3"/>
                </a:cubicBezTo>
                <a:cubicBezTo>
                  <a:pt x="2847" y="5"/>
                  <a:pt x="2857" y="8"/>
                  <a:pt x="2867" y="12"/>
                </a:cubicBezTo>
                <a:cubicBezTo>
                  <a:pt x="2876" y="16"/>
                  <a:pt x="2886" y="21"/>
                  <a:pt x="2894" y="26"/>
                </a:cubicBezTo>
                <a:cubicBezTo>
                  <a:pt x="2903" y="32"/>
                  <a:pt x="2911" y="39"/>
                  <a:pt x="2918" y="46"/>
                </a:cubicBezTo>
                <a:cubicBezTo>
                  <a:pt x="2926" y="53"/>
                  <a:pt x="2932" y="61"/>
                  <a:pt x="2938" y="70"/>
                </a:cubicBezTo>
                <a:cubicBezTo>
                  <a:pt x="2944" y="79"/>
                  <a:pt x="2949" y="88"/>
                  <a:pt x="2953" y="98"/>
                </a:cubicBezTo>
                <a:cubicBezTo>
                  <a:pt x="2957" y="108"/>
                  <a:pt x="2960" y="118"/>
                  <a:pt x="2962" y="128"/>
                </a:cubicBezTo>
                <a:cubicBezTo>
                  <a:pt x="2964" y="139"/>
                  <a:pt x="2965" y="149"/>
                  <a:pt x="2965" y="159"/>
                </a:cubicBezTo>
                <a:lnTo>
                  <a:pt x="2965" y="371"/>
                </a:lnTo>
                <a:cubicBezTo>
                  <a:pt x="2965" y="381"/>
                  <a:pt x="2964" y="392"/>
                  <a:pt x="2962" y="402"/>
                </a:cubicBezTo>
                <a:cubicBezTo>
                  <a:pt x="2960" y="412"/>
                  <a:pt x="2957" y="422"/>
                  <a:pt x="2953" y="432"/>
                </a:cubicBezTo>
                <a:cubicBezTo>
                  <a:pt x="2949" y="441"/>
                  <a:pt x="2944" y="451"/>
                  <a:pt x="2938" y="459"/>
                </a:cubicBezTo>
                <a:cubicBezTo>
                  <a:pt x="2932" y="468"/>
                  <a:pt x="2926" y="476"/>
                  <a:pt x="2918" y="483"/>
                </a:cubicBezTo>
                <a:cubicBezTo>
                  <a:pt x="2911" y="491"/>
                  <a:pt x="2903" y="497"/>
                  <a:pt x="2894" y="503"/>
                </a:cubicBezTo>
                <a:cubicBezTo>
                  <a:pt x="2886" y="509"/>
                  <a:pt x="2876" y="514"/>
                  <a:pt x="2867" y="518"/>
                </a:cubicBezTo>
                <a:cubicBezTo>
                  <a:pt x="2857" y="522"/>
                  <a:pt x="2847" y="525"/>
                  <a:pt x="2837" y="527"/>
                </a:cubicBezTo>
                <a:cubicBezTo>
                  <a:pt x="2827" y="529"/>
                  <a:pt x="2816" y="530"/>
                  <a:pt x="2806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3"/>
                </a:cubicBezTo>
                <a:cubicBezTo>
                  <a:pt x="40" y="476"/>
                  <a:pt x="33" y="468"/>
                  <a:pt x="27" y="459"/>
                </a:cubicBezTo>
                <a:cubicBezTo>
                  <a:pt x="21" y="451"/>
                  <a:pt x="17" y="441"/>
                  <a:pt x="13" y="432"/>
                </a:cubicBezTo>
                <a:cubicBezTo>
                  <a:pt x="9" y="422"/>
                  <a:pt x="6" y="412"/>
                  <a:pt x="4" y="402"/>
                </a:cubicBezTo>
                <a:cubicBezTo>
                  <a:pt x="1" y="392"/>
                  <a:pt x="0" y="381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6364800" y="2724480"/>
            <a:ext cx="14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7.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571080" y="2748240"/>
            <a:ext cx="966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ior-easy-read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Freeform 97"/>
          <p:cNvSpPr/>
          <p:nvPr/>
        </p:nvSpPr>
        <p:spPr>
          <a:xfrm>
            <a:off x="6524280" y="2933640"/>
            <a:ext cx="1286280" cy="190800"/>
          </a:xfrm>
          <a:custGeom>
            <a:avLst/>
            <a:gdLst/>
            <a:ahLst/>
            <a:cxnLst/>
            <a:rect l="0" t="0" r="r" b="b"/>
            <a:pathLst>
              <a:path w="3573" h="530">
                <a:moveTo>
                  <a:pt x="0" y="371"/>
                </a:moveTo>
                <a:lnTo>
                  <a:pt x="0" y="159"/>
                </a:lnTo>
                <a:cubicBezTo>
                  <a:pt x="0" y="149"/>
                  <a:pt x="1" y="139"/>
                  <a:pt x="4" y="128"/>
                </a:cubicBezTo>
                <a:cubicBezTo>
                  <a:pt x="6" y="118"/>
                  <a:pt x="9" y="108"/>
                  <a:pt x="13" y="99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3"/>
                  <a:pt x="40" y="55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415" y="0"/>
                </a:lnTo>
                <a:cubicBezTo>
                  <a:pt x="3425" y="0"/>
                  <a:pt x="3435" y="1"/>
                  <a:pt x="3446" y="3"/>
                </a:cubicBezTo>
                <a:cubicBezTo>
                  <a:pt x="3456" y="5"/>
                  <a:pt x="3466" y="8"/>
                  <a:pt x="3475" y="12"/>
                </a:cubicBezTo>
                <a:cubicBezTo>
                  <a:pt x="3485" y="16"/>
                  <a:pt x="3494" y="21"/>
                  <a:pt x="3503" y="26"/>
                </a:cubicBezTo>
                <a:cubicBezTo>
                  <a:pt x="3511" y="32"/>
                  <a:pt x="3519" y="39"/>
                  <a:pt x="3527" y="46"/>
                </a:cubicBezTo>
                <a:cubicBezTo>
                  <a:pt x="3534" y="55"/>
                  <a:pt x="3541" y="63"/>
                  <a:pt x="3547" y="71"/>
                </a:cubicBezTo>
                <a:cubicBezTo>
                  <a:pt x="3552" y="80"/>
                  <a:pt x="3557" y="89"/>
                  <a:pt x="3561" y="99"/>
                </a:cubicBezTo>
                <a:cubicBezTo>
                  <a:pt x="3565" y="108"/>
                  <a:pt x="3568" y="118"/>
                  <a:pt x="3570" y="128"/>
                </a:cubicBezTo>
                <a:cubicBezTo>
                  <a:pt x="3572" y="139"/>
                  <a:pt x="3573" y="149"/>
                  <a:pt x="3573" y="159"/>
                </a:cubicBezTo>
                <a:lnTo>
                  <a:pt x="3573" y="371"/>
                </a:lnTo>
                <a:cubicBezTo>
                  <a:pt x="3573" y="382"/>
                  <a:pt x="3572" y="392"/>
                  <a:pt x="3570" y="402"/>
                </a:cubicBezTo>
                <a:cubicBezTo>
                  <a:pt x="3568" y="412"/>
                  <a:pt x="3565" y="422"/>
                  <a:pt x="3561" y="432"/>
                </a:cubicBezTo>
                <a:cubicBezTo>
                  <a:pt x="3557" y="441"/>
                  <a:pt x="3552" y="451"/>
                  <a:pt x="3547" y="459"/>
                </a:cubicBezTo>
                <a:cubicBezTo>
                  <a:pt x="3541" y="468"/>
                  <a:pt x="3534" y="476"/>
                  <a:pt x="3527" y="483"/>
                </a:cubicBezTo>
                <a:cubicBezTo>
                  <a:pt x="3519" y="491"/>
                  <a:pt x="3511" y="497"/>
                  <a:pt x="3503" y="503"/>
                </a:cubicBezTo>
                <a:cubicBezTo>
                  <a:pt x="3494" y="509"/>
                  <a:pt x="3485" y="514"/>
                  <a:pt x="3475" y="518"/>
                </a:cubicBezTo>
                <a:cubicBezTo>
                  <a:pt x="3466" y="522"/>
                  <a:pt x="3456" y="525"/>
                  <a:pt x="3446" y="527"/>
                </a:cubicBezTo>
                <a:cubicBezTo>
                  <a:pt x="3435" y="529"/>
                  <a:pt x="3425" y="530"/>
                  <a:pt x="3415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3"/>
                </a:cubicBezTo>
                <a:cubicBezTo>
                  <a:pt x="40" y="476"/>
                  <a:pt x="33" y="468"/>
                  <a:pt x="27" y="459"/>
                </a:cubicBezTo>
                <a:cubicBezTo>
                  <a:pt x="21" y="451"/>
                  <a:pt x="17" y="441"/>
                  <a:pt x="13" y="432"/>
                </a:cubicBezTo>
                <a:cubicBezTo>
                  <a:pt x="9" y="422"/>
                  <a:pt x="6" y="412"/>
                  <a:pt x="4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6364800" y="2934000"/>
            <a:ext cx="14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8.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6571080" y="2957760"/>
            <a:ext cx="11898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mdtest-easy-stat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Freeform 100"/>
          <p:cNvSpPr/>
          <p:nvPr/>
        </p:nvSpPr>
        <p:spPr>
          <a:xfrm>
            <a:off x="6524280" y="3143160"/>
            <a:ext cx="1067400" cy="190800"/>
          </a:xfrm>
          <a:custGeom>
            <a:avLst/>
            <a:gdLst/>
            <a:ahLst/>
            <a:cxnLst/>
            <a:rect l="0" t="0" r="r" b="b"/>
            <a:pathLst>
              <a:path w="2965" h="530">
                <a:moveTo>
                  <a:pt x="0" y="370"/>
                </a:moveTo>
                <a:lnTo>
                  <a:pt x="0" y="158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806" y="0"/>
                </a:lnTo>
                <a:cubicBezTo>
                  <a:pt x="2816" y="0"/>
                  <a:pt x="2827" y="1"/>
                  <a:pt x="2837" y="3"/>
                </a:cubicBezTo>
                <a:cubicBezTo>
                  <a:pt x="2847" y="5"/>
                  <a:pt x="2857" y="8"/>
                  <a:pt x="2867" y="12"/>
                </a:cubicBezTo>
                <a:cubicBezTo>
                  <a:pt x="2876" y="16"/>
                  <a:pt x="2886" y="21"/>
                  <a:pt x="2894" y="27"/>
                </a:cubicBezTo>
                <a:cubicBezTo>
                  <a:pt x="2903" y="32"/>
                  <a:pt x="2911" y="39"/>
                  <a:pt x="2918" y="46"/>
                </a:cubicBezTo>
                <a:cubicBezTo>
                  <a:pt x="2926" y="54"/>
                  <a:pt x="2932" y="62"/>
                  <a:pt x="2938" y="70"/>
                </a:cubicBezTo>
                <a:cubicBezTo>
                  <a:pt x="2944" y="79"/>
                  <a:pt x="2949" y="88"/>
                  <a:pt x="2953" y="98"/>
                </a:cubicBezTo>
                <a:cubicBezTo>
                  <a:pt x="2957" y="107"/>
                  <a:pt x="2960" y="117"/>
                  <a:pt x="2962" y="128"/>
                </a:cubicBezTo>
                <a:cubicBezTo>
                  <a:pt x="2964" y="138"/>
                  <a:pt x="2965" y="148"/>
                  <a:pt x="2965" y="158"/>
                </a:cubicBezTo>
                <a:lnTo>
                  <a:pt x="2965" y="370"/>
                </a:lnTo>
                <a:cubicBezTo>
                  <a:pt x="2965" y="381"/>
                  <a:pt x="2964" y="391"/>
                  <a:pt x="2962" y="401"/>
                </a:cubicBezTo>
                <a:cubicBezTo>
                  <a:pt x="2960" y="411"/>
                  <a:pt x="2957" y="421"/>
                  <a:pt x="2953" y="431"/>
                </a:cubicBezTo>
                <a:cubicBezTo>
                  <a:pt x="2949" y="441"/>
                  <a:pt x="2944" y="450"/>
                  <a:pt x="2938" y="458"/>
                </a:cubicBezTo>
                <a:cubicBezTo>
                  <a:pt x="2932" y="467"/>
                  <a:pt x="2926" y="475"/>
                  <a:pt x="2918" y="482"/>
                </a:cubicBezTo>
                <a:cubicBezTo>
                  <a:pt x="2911" y="490"/>
                  <a:pt x="2903" y="496"/>
                  <a:pt x="2894" y="502"/>
                </a:cubicBezTo>
                <a:cubicBezTo>
                  <a:pt x="2886" y="508"/>
                  <a:pt x="2876" y="513"/>
                  <a:pt x="2867" y="517"/>
                </a:cubicBezTo>
                <a:cubicBezTo>
                  <a:pt x="2857" y="521"/>
                  <a:pt x="2847" y="524"/>
                  <a:pt x="2837" y="526"/>
                </a:cubicBezTo>
                <a:cubicBezTo>
                  <a:pt x="2827" y="529"/>
                  <a:pt x="2816" y="530"/>
                  <a:pt x="2806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6"/>
                </a:cubicBezTo>
                <a:cubicBezTo>
                  <a:pt x="118" y="524"/>
                  <a:pt x="108" y="521"/>
                  <a:pt x="98" y="517"/>
                </a:cubicBezTo>
                <a:cubicBezTo>
                  <a:pt x="89" y="513"/>
                  <a:pt x="80" y="508"/>
                  <a:pt x="71" y="502"/>
                </a:cubicBezTo>
                <a:cubicBezTo>
                  <a:pt x="62" y="496"/>
                  <a:pt x="54" y="490"/>
                  <a:pt x="47" y="482"/>
                </a:cubicBezTo>
                <a:cubicBezTo>
                  <a:pt x="40" y="475"/>
                  <a:pt x="33" y="467"/>
                  <a:pt x="27" y="458"/>
                </a:cubicBezTo>
                <a:cubicBezTo>
                  <a:pt x="21" y="450"/>
                  <a:pt x="17" y="441"/>
                  <a:pt x="13" y="431"/>
                </a:cubicBezTo>
                <a:cubicBezTo>
                  <a:pt x="9" y="421"/>
                  <a:pt x="6" y="411"/>
                  <a:pt x="4" y="401"/>
                </a:cubicBezTo>
                <a:cubicBezTo>
                  <a:pt x="1" y="391"/>
                  <a:pt x="0" y="381"/>
                  <a:pt x="0" y="37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6364800" y="3134160"/>
            <a:ext cx="1479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9.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571080" y="3167280"/>
            <a:ext cx="966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ior-hard-read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Freeform 103"/>
          <p:cNvSpPr/>
          <p:nvPr/>
        </p:nvSpPr>
        <p:spPr>
          <a:xfrm>
            <a:off x="6524280" y="3352680"/>
            <a:ext cx="1286280" cy="190800"/>
          </a:xfrm>
          <a:custGeom>
            <a:avLst/>
            <a:gdLst/>
            <a:ahLst/>
            <a:cxnLst/>
            <a:rect l="0" t="0" r="r" b="b"/>
            <a:pathLst>
              <a:path w="3573" h="530">
                <a:moveTo>
                  <a:pt x="0" y="370"/>
                </a:moveTo>
                <a:lnTo>
                  <a:pt x="0" y="159"/>
                </a:lnTo>
                <a:cubicBezTo>
                  <a:pt x="0" y="148"/>
                  <a:pt x="1" y="138"/>
                  <a:pt x="4" y="128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415" y="0"/>
                </a:lnTo>
                <a:cubicBezTo>
                  <a:pt x="3425" y="0"/>
                  <a:pt x="3435" y="1"/>
                  <a:pt x="3446" y="3"/>
                </a:cubicBezTo>
                <a:cubicBezTo>
                  <a:pt x="3456" y="5"/>
                  <a:pt x="3466" y="8"/>
                  <a:pt x="3475" y="12"/>
                </a:cubicBezTo>
                <a:cubicBezTo>
                  <a:pt x="3485" y="16"/>
                  <a:pt x="3494" y="21"/>
                  <a:pt x="3503" y="27"/>
                </a:cubicBezTo>
                <a:cubicBezTo>
                  <a:pt x="3511" y="32"/>
                  <a:pt x="3519" y="39"/>
                  <a:pt x="3527" y="46"/>
                </a:cubicBezTo>
                <a:cubicBezTo>
                  <a:pt x="3534" y="54"/>
                  <a:pt x="3541" y="62"/>
                  <a:pt x="3547" y="70"/>
                </a:cubicBezTo>
                <a:cubicBezTo>
                  <a:pt x="3552" y="79"/>
                  <a:pt x="3557" y="88"/>
                  <a:pt x="3561" y="98"/>
                </a:cubicBezTo>
                <a:cubicBezTo>
                  <a:pt x="3565" y="107"/>
                  <a:pt x="3568" y="117"/>
                  <a:pt x="3570" y="128"/>
                </a:cubicBezTo>
                <a:cubicBezTo>
                  <a:pt x="3572" y="138"/>
                  <a:pt x="3573" y="148"/>
                  <a:pt x="3573" y="159"/>
                </a:cubicBezTo>
                <a:lnTo>
                  <a:pt x="3573" y="370"/>
                </a:lnTo>
                <a:cubicBezTo>
                  <a:pt x="3573" y="381"/>
                  <a:pt x="3572" y="391"/>
                  <a:pt x="3570" y="401"/>
                </a:cubicBezTo>
                <a:cubicBezTo>
                  <a:pt x="3568" y="411"/>
                  <a:pt x="3565" y="421"/>
                  <a:pt x="3561" y="431"/>
                </a:cubicBezTo>
                <a:cubicBezTo>
                  <a:pt x="3557" y="441"/>
                  <a:pt x="3552" y="450"/>
                  <a:pt x="3547" y="458"/>
                </a:cubicBezTo>
                <a:cubicBezTo>
                  <a:pt x="3541" y="467"/>
                  <a:pt x="3534" y="476"/>
                  <a:pt x="3527" y="484"/>
                </a:cubicBezTo>
                <a:cubicBezTo>
                  <a:pt x="3519" y="491"/>
                  <a:pt x="3511" y="497"/>
                  <a:pt x="3503" y="503"/>
                </a:cubicBezTo>
                <a:cubicBezTo>
                  <a:pt x="3494" y="509"/>
                  <a:pt x="3485" y="514"/>
                  <a:pt x="3475" y="518"/>
                </a:cubicBezTo>
                <a:cubicBezTo>
                  <a:pt x="3466" y="522"/>
                  <a:pt x="3456" y="525"/>
                  <a:pt x="3446" y="527"/>
                </a:cubicBezTo>
                <a:cubicBezTo>
                  <a:pt x="3435" y="529"/>
                  <a:pt x="3425" y="530"/>
                  <a:pt x="3415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4"/>
                </a:cubicBezTo>
                <a:cubicBezTo>
                  <a:pt x="40" y="476"/>
                  <a:pt x="33" y="467"/>
                  <a:pt x="27" y="458"/>
                </a:cubicBezTo>
                <a:cubicBezTo>
                  <a:pt x="21" y="450"/>
                  <a:pt x="17" y="441"/>
                  <a:pt x="13" y="431"/>
                </a:cubicBezTo>
                <a:cubicBezTo>
                  <a:pt x="9" y="421"/>
                  <a:pt x="6" y="411"/>
                  <a:pt x="4" y="401"/>
                </a:cubicBezTo>
                <a:cubicBezTo>
                  <a:pt x="1" y="391"/>
                  <a:pt x="0" y="381"/>
                  <a:pt x="0" y="37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6282000" y="3343680"/>
            <a:ext cx="221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10.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571080" y="3376800"/>
            <a:ext cx="11898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mdtest-hard-stat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Freeform 106"/>
          <p:cNvSpPr/>
          <p:nvPr/>
        </p:nvSpPr>
        <p:spPr>
          <a:xfrm>
            <a:off x="6524280" y="3552480"/>
            <a:ext cx="1438920" cy="191160"/>
          </a:xfrm>
          <a:custGeom>
            <a:avLst/>
            <a:gdLst/>
            <a:ahLst/>
            <a:cxnLst/>
            <a:rect l="0" t="0" r="r" b="b"/>
            <a:pathLst>
              <a:path w="3997" h="531">
                <a:moveTo>
                  <a:pt x="0" y="371"/>
                </a:moveTo>
                <a:lnTo>
                  <a:pt x="0" y="159"/>
                </a:lnTo>
                <a:cubicBezTo>
                  <a:pt x="0" y="149"/>
                  <a:pt x="1" y="138"/>
                  <a:pt x="4" y="128"/>
                </a:cubicBezTo>
                <a:cubicBezTo>
                  <a:pt x="6" y="118"/>
                  <a:pt x="9" y="108"/>
                  <a:pt x="13" y="98"/>
                </a:cubicBezTo>
                <a:cubicBezTo>
                  <a:pt x="17" y="89"/>
                  <a:pt x="21" y="80"/>
                  <a:pt x="27" y="71"/>
                </a:cubicBezTo>
                <a:cubicBezTo>
                  <a:pt x="33" y="62"/>
                  <a:pt x="40" y="54"/>
                  <a:pt x="47" y="47"/>
                </a:cubicBezTo>
                <a:cubicBezTo>
                  <a:pt x="54" y="40"/>
                  <a:pt x="62" y="33"/>
                  <a:pt x="71" y="27"/>
                </a:cubicBezTo>
                <a:cubicBezTo>
                  <a:pt x="80" y="21"/>
                  <a:pt x="89" y="17"/>
                  <a:pt x="98" y="13"/>
                </a:cubicBezTo>
                <a:cubicBezTo>
                  <a:pt x="108" y="9"/>
                  <a:pt x="118" y="6"/>
                  <a:pt x="128" y="4"/>
                </a:cubicBezTo>
                <a:cubicBezTo>
                  <a:pt x="138" y="1"/>
                  <a:pt x="149" y="0"/>
                  <a:pt x="159" y="0"/>
                </a:cubicBezTo>
                <a:lnTo>
                  <a:pt x="3837" y="0"/>
                </a:lnTo>
                <a:cubicBezTo>
                  <a:pt x="3847" y="0"/>
                  <a:pt x="3859" y="1"/>
                  <a:pt x="3869" y="4"/>
                </a:cubicBezTo>
                <a:cubicBezTo>
                  <a:pt x="3879" y="6"/>
                  <a:pt x="3889" y="9"/>
                  <a:pt x="3899" y="13"/>
                </a:cubicBezTo>
                <a:cubicBezTo>
                  <a:pt x="3908" y="17"/>
                  <a:pt x="3917" y="21"/>
                  <a:pt x="3926" y="27"/>
                </a:cubicBezTo>
                <a:cubicBezTo>
                  <a:pt x="3935" y="33"/>
                  <a:pt x="3943" y="40"/>
                  <a:pt x="3950" y="47"/>
                </a:cubicBezTo>
                <a:cubicBezTo>
                  <a:pt x="3958" y="54"/>
                  <a:pt x="3964" y="62"/>
                  <a:pt x="3970" y="71"/>
                </a:cubicBezTo>
                <a:cubicBezTo>
                  <a:pt x="3976" y="80"/>
                  <a:pt x="3981" y="89"/>
                  <a:pt x="3985" y="98"/>
                </a:cubicBezTo>
                <a:cubicBezTo>
                  <a:pt x="3989" y="108"/>
                  <a:pt x="3992" y="118"/>
                  <a:pt x="3994" y="128"/>
                </a:cubicBezTo>
                <a:cubicBezTo>
                  <a:pt x="3996" y="138"/>
                  <a:pt x="3997" y="149"/>
                  <a:pt x="3997" y="159"/>
                </a:cubicBezTo>
                <a:lnTo>
                  <a:pt x="3997" y="371"/>
                </a:lnTo>
                <a:cubicBezTo>
                  <a:pt x="3997" y="381"/>
                  <a:pt x="3996" y="392"/>
                  <a:pt x="3994" y="402"/>
                </a:cubicBezTo>
                <a:cubicBezTo>
                  <a:pt x="3992" y="412"/>
                  <a:pt x="3989" y="422"/>
                  <a:pt x="3985" y="432"/>
                </a:cubicBezTo>
                <a:cubicBezTo>
                  <a:pt x="3981" y="441"/>
                  <a:pt x="3976" y="451"/>
                  <a:pt x="3970" y="460"/>
                </a:cubicBezTo>
                <a:cubicBezTo>
                  <a:pt x="3964" y="469"/>
                  <a:pt x="3958" y="477"/>
                  <a:pt x="3950" y="484"/>
                </a:cubicBezTo>
                <a:cubicBezTo>
                  <a:pt x="3943" y="491"/>
                  <a:pt x="3935" y="498"/>
                  <a:pt x="3926" y="504"/>
                </a:cubicBezTo>
                <a:cubicBezTo>
                  <a:pt x="3917" y="510"/>
                  <a:pt x="3908" y="515"/>
                  <a:pt x="3899" y="519"/>
                </a:cubicBezTo>
                <a:cubicBezTo>
                  <a:pt x="3889" y="523"/>
                  <a:pt x="3879" y="526"/>
                  <a:pt x="3869" y="528"/>
                </a:cubicBezTo>
                <a:cubicBezTo>
                  <a:pt x="3859" y="530"/>
                  <a:pt x="3847" y="531"/>
                  <a:pt x="3837" y="531"/>
                </a:cubicBezTo>
                <a:lnTo>
                  <a:pt x="159" y="531"/>
                </a:lnTo>
                <a:cubicBezTo>
                  <a:pt x="149" y="531"/>
                  <a:pt x="138" y="530"/>
                  <a:pt x="128" y="528"/>
                </a:cubicBezTo>
                <a:cubicBezTo>
                  <a:pt x="118" y="526"/>
                  <a:pt x="108" y="523"/>
                  <a:pt x="98" y="519"/>
                </a:cubicBezTo>
                <a:cubicBezTo>
                  <a:pt x="89" y="515"/>
                  <a:pt x="80" y="510"/>
                  <a:pt x="71" y="504"/>
                </a:cubicBezTo>
                <a:cubicBezTo>
                  <a:pt x="62" y="498"/>
                  <a:pt x="54" y="491"/>
                  <a:pt x="47" y="484"/>
                </a:cubicBezTo>
                <a:cubicBezTo>
                  <a:pt x="40" y="477"/>
                  <a:pt x="33" y="469"/>
                  <a:pt x="27" y="460"/>
                </a:cubicBezTo>
                <a:cubicBezTo>
                  <a:pt x="21" y="451"/>
                  <a:pt x="17" y="441"/>
                  <a:pt x="13" y="432"/>
                </a:cubicBezTo>
                <a:cubicBezTo>
                  <a:pt x="9" y="422"/>
                  <a:pt x="6" y="412"/>
                  <a:pt x="4" y="402"/>
                </a:cubicBezTo>
                <a:cubicBezTo>
                  <a:pt x="1" y="392"/>
                  <a:pt x="0" y="381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6282000" y="3553200"/>
            <a:ext cx="221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11.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6571080" y="3576960"/>
            <a:ext cx="1338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mdtest-easy-delete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Freeform 109"/>
          <p:cNvSpPr/>
          <p:nvPr/>
        </p:nvSpPr>
        <p:spPr>
          <a:xfrm>
            <a:off x="6524280" y="3762360"/>
            <a:ext cx="1286280" cy="190800"/>
          </a:xfrm>
          <a:custGeom>
            <a:avLst/>
            <a:gdLst/>
            <a:ahLst/>
            <a:cxnLst/>
            <a:rect l="0" t="0" r="r" b="b"/>
            <a:pathLst>
              <a:path w="3573" h="530">
                <a:moveTo>
                  <a:pt x="0" y="370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1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415" y="0"/>
                </a:lnTo>
                <a:cubicBezTo>
                  <a:pt x="3425" y="0"/>
                  <a:pt x="3435" y="1"/>
                  <a:pt x="3446" y="3"/>
                </a:cubicBezTo>
                <a:cubicBezTo>
                  <a:pt x="3456" y="5"/>
                  <a:pt x="3466" y="8"/>
                  <a:pt x="3475" y="12"/>
                </a:cubicBezTo>
                <a:cubicBezTo>
                  <a:pt x="3485" y="16"/>
                  <a:pt x="3494" y="21"/>
                  <a:pt x="3503" y="26"/>
                </a:cubicBezTo>
                <a:cubicBezTo>
                  <a:pt x="3511" y="32"/>
                  <a:pt x="3519" y="39"/>
                  <a:pt x="3527" y="46"/>
                </a:cubicBezTo>
                <a:cubicBezTo>
                  <a:pt x="3534" y="53"/>
                  <a:pt x="3541" y="61"/>
                  <a:pt x="3547" y="70"/>
                </a:cubicBezTo>
                <a:cubicBezTo>
                  <a:pt x="3552" y="79"/>
                  <a:pt x="3557" y="88"/>
                  <a:pt x="3561" y="98"/>
                </a:cubicBezTo>
                <a:cubicBezTo>
                  <a:pt x="3565" y="107"/>
                  <a:pt x="3568" y="117"/>
                  <a:pt x="3570" y="127"/>
                </a:cubicBezTo>
                <a:cubicBezTo>
                  <a:pt x="3572" y="138"/>
                  <a:pt x="3573" y="148"/>
                  <a:pt x="3573" y="158"/>
                </a:cubicBezTo>
                <a:lnTo>
                  <a:pt x="3573" y="370"/>
                </a:lnTo>
                <a:cubicBezTo>
                  <a:pt x="3573" y="380"/>
                  <a:pt x="3572" y="391"/>
                  <a:pt x="3570" y="402"/>
                </a:cubicBezTo>
                <a:cubicBezTo>
                  <a:pt x="3568" y="412"/>
                  <a:pt x="3565" y="422"/>
                  <a:pt x="3561" y="432"/>
                </a:cubicBezTo>
                <a:cubicBezTo>
                  <a:pt x="3557" y="441"/>
                  <a:pt x="3552" y="450"/>
                  <a:pt x="3547" y="459"/>
                </a:cubicBezTo>
                <a:cubicBezTo>
                  <a:pt x="3541" y="468"/>
                  <a:pt x="3534" y="476"/>
                  <a:pt x="3527" y="483"/>
                </a:cubicBezTo>
                <a:cubicBezTo>
                  <a:pt x="3519" y="491"/>
                  <a:pt x="3511" y="497"/>
                  <a:pt x="3503" y="503"/>
                </a:cubicBezTo>
                <a:cubicBezTo>
                  <a:pt x="3494" y="509"/>
                  <a:pt x="3485" y="514"/>
                  <a:pt x="3475" y="518"/>
                </a:cubicBezTo>
                <a:cubicBezTo>
                  <a:pt x="3466" y="522"/>
                  <a:pt x="3456" y="525"/>
                  <a:pt x="3446" y="527"/>
                </a:cubicBezTo>
                <a:cubicBezTo>
                  <a:pt x="3435" y="529"/>
                  <a:pt x="3425" y="530"/>
                  <a:pt x="3415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3"/>
                </a:cubicBezTo>
                <a:cubicBezTo>
                  <a:pt x="40" y="476"/>
                  <a:pt x="33" y="468"/>
                  <a:pt x="27" y="459"/>
                </a:cubicBezTo>
                <a:cubicBezTo>
                  <a:pt x="21" y="450"/>
                  <a:pt x="17" y="441"/>
                  <a:pt x="13" y="432"/>
                </a:cubicBezTo>
                <a:cubicBezTo>
                  <a:pt x="9" y="422"/>
                  <a:pt x="6" y="412"/>
                  <a:pt x="4" y="402"/>
                </a:cubicBezTo>
                <a:cubicBezTo>
                  <a:pt x="1" y="391"/>
                  <a:pt x="0" y="380"/>
                  <a:pt x="0" y="37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TextBox 110"/>
          <p:cNvSpPr txBox="1"/>
          <p:nvPr/>
        </p:nvSpPr>
        <p:spPr>
          <a:xfrm>
            <a:off x="6282000" y="3762720"/>
            <a:ext cx="221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12.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TextBox 111"/>
          <p:cNvSpPr txBox="1"/>
          <p:nvPr/>
        </p:nvSpPr>
        <p:spPr>
          <a:xfrm>
            <a:off x="6571080" y="3786480"/>
            <a:ext cx="118980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mdtest-hard-read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Freeform 112"/>
          <p:cNvSpPr/>
          <p:nvPr/>
        </p:nvSpPr>
        <p:spPr>
          <a:xfrm>
            <a:off x="6524280" y="3971880"/>
            <a:ext cx="1438920" cy="190800"/>
          </a:xfrm>
          <a:custGeom>
            <a:avLst/>
            <a:gdLst/>
            <a:ahLst/>
            <a:cxnLst/>
            <a:rect l="0" t="0" r="r" b="b"/>
            <a:pathLst>
              <a:path w="3997" h="530">
                <a:moveTo>
                  <a:pt x="0" y="371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3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837" y="0"/>
                </a:lnTo>
                <a:cubicBezTo>
                  <a:pt x="3847" y="0"/>
                  <a:pt x="3859" y="1"/>
                  <a:pt x="3869" y="3"/>
                </a:cubicBezTo>
                <a:cubicBezTo>
                  <a:pt x="3879" y="5"/>
                  <a:pt x="3889" y="8"/>
                  <a:pt x="3899" y="12"/>
                </a:cubicBezTo>
                <a:cubicBezTo>
                  <a:pt x="3908" y="16"/>
                  <a:pt x="3917" y="21"/>
                  <a:pt x="3926" y="26"/>
                </a:cubicBezTo>
                <a:cubicBezTo>
                  <a:pt x="3935" y="32"/>
                  <a:pt x="3943" y="39"/>
                  <a:pt x="3950" y="46"/>
                </a:cubicBezTo>
                <a:cubicBezTo>
                  <a:pt x="3958" y="53"/>
                  <a:pt x="3964" y="62"/>
                  <a:pt x="3970" y="70"/>
                </a:cubicBezTo>
                <a:cubicBezTo>
                  <a:pt x="3976" y="79"/>
                  <a:pt x="3981" y="88"/>
                  <a:pt x="3985" y="98"/>
                </a:cubicBezTo>
                <a:cubicBezTo>
                  <a:pt x="3989" y="107"/>
                  <a:pt x="3992" y="117"/>
                  <a:pt x="3994" y="127"/>
                </a:cubicBezTo>
                <a:cubicBezTo>
                  <a:pt x="3996" y="138"/>
                  <a:pt x="3997" y="148"/>
                  <a:pt x="3997" y="158"/>
                </a:cubicBezTo>
                <a:lnTo>
                  <a:pt x="3997" y="371"/>
                </a:lnTo>
                <a:cubicBezTo>
                  <a:pt x="3997" y="381"/>
                  <a:pt x="3996" y="392"/>
                  <a:pt x="3994" y="402"/>
                </a:cubicBezTo>
                <a:cubicBezTo>
                  <a:pt x="3992" y="412"/>
                  <a:pt x="3989" y="422"/>
                  <a:pt x="3985" y="432"/>
                </a:cubicBezTo>
                <a:cubicBezTo>
                  <a:pt x="3981" y="441"/>
                  <a:pt x="3976" y="451"/>
                  <a:pt x="3970" y="459"/>
                </a:cubicBezTo>
                <a:cubicBezTo>
                  <a:pt x="3964" y="468"/>
                  <a:pt x="3958" y="476"/>
                  <a:pt x="3950" y="483"/>
                </a:cubicBezTo>
                <a:cubicBezTo>
                  <a:pt x="3943" y="491"/>
                  <a:pt x="3935" y="497"/>
                  <a:pt x="3926" y="503"/>
                </a:cubicBezTo>
                <a:cubicBezTo>
                  <a:pt x="3917" y="509"/>
                  <a:pt x="3908" y="514"/>
                  <a:pt x="3899" y="518"/>
                </a:cubicBezTo>
                <a:cubicBezTo>
                  <a:pt x="3889" y="522"/>
                  <a:pt x="3879" y="525"/>
                  <a:pt x="3869" y="527"/>
                </a:cubicBezTo>
                <a:cubicBezTo>
                  <a:pt x="3859" y="529"/>
                  <a:pt x="3847" y="530"/>
                  <a:pt x="3837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3"/>
                </a:cubicBezTo>
                <a:cubicBezTo>
                  <a:pt x="40" y="476"/>
                  <a:pt x="33" y="468"/>
                  <a:pt x="27" y="459"/>
                </a:cubicBezTo>
                <a:cubicBezTo>
                  <a:pt x="21" y="451"/>
                  <a:pt x="17" y="441"/>
                  <a:pt x="13" y="432"/>
                </a:cubicBezTo>
                <a:cubicBezTo>
                  <a:pt x="9" y="422"/>
                  <a:pt x="6" y="412"/>
                  <a:pt x="4" y="402"/>
                </a:cubicBezTo>
                <a:cubicBezTo>
                  <a:pt x="1" y="392"/>
                  <a:pt x="0" y="381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6282000" y="3962880"/>
            <a:ext cx="221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13.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6571080" y="3996000"/>
            <a:ext cx="1338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mdtest-hard-delete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Freeform 115"/>
          <p:cNvSpPr/>
          <p:nvPr/>
        </p:nvSpPr>
        <p:spPr>
          <a:xfrm>
            <a:off x="6524280" y="4181400"/>
            <a:ext cx="1514880" cy="190800"/>
          </a:xfrm>
          <a:custGeom>
            <a:avLst/>
            <a:gdLst/>
            <a:ahLst/>
            <a:cxnLst/>
            <a:rect l="0" t="0" r="r" b="b"/>
            <a:pathLst>
              <a:path w="4208" h="530">
                <a:moveTo>
                  <a:pt x="0" y="371"/>
                </a:moveTo>
                <a:lnTo>
                  <a:pt x="0" y="158"/>
                </a:lnTo>
                <a:cubicBezTo>
                  <a:pt x="0" y="148"/>
                  <a:pt x="1" y="138"/>
                  <a:pt x="4" y="127"/>
                </a:cubicBezTo>
                <a:cubicBezTo>
                  <a:pt x="6" y="117"/>
                  <a:pt x="9" y="107"/>
                  <a:pt x="13" y="98"/>
                </a:cubicBezTo>
                <a:cubicBezTo>
                  <a:pt x="17" y="88"/>
                  <a:pt x="21" y="79"/>
                  <a:pt x="27" y="70"/>
                </a:cubicBezTo>
                <a:cubicBezTo>
                  <a:pt x="33" y="62"/>
                  <a:pt x="40" y="54"/>
                  <a:pt x="47" y="46"/>
                </a:cubicBezTo>
                <a:cubicBezTo>
                  <a:pt x="54" y="39"/>
                  <a:pt x="62" y="32"/>
                  <a:pt x="71" y="26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4050" y="0"/>
                </a:lnTo>
                <a:cubicBezTo>
                  <a:pt x="4060" y="0"/>
                  <a:pt x="4070" y="1"/>
                  <a:pt x="4081" y="3"/>
                </a:cubicBezTo>
                <a:cubicBezTo>
                  <a:pt x="4091" y="5"/>
                  <a:pt x="4101" y="8"/>
                  <a:pt x="4110" y="12"/>
                </a:cubicBezTo>
                <a:cubicBezTo>
                  <a:pt x="4120" y="16"/>
                  <a:pt x="4129" y="21"/>
                  <a:pt x="4138" y="26"/>
                </a:cubicBezTo>
                <a:cubicBezTo>
                  <a:pt x="4146" y="32"/>
                  <a:pt x="4154" y="39"/>
                  <a:pt x="4162" y="46"/>
                </a:cubicBezTo>
                <a:cubicBezTo>
                  <a:pt x="4169" y="54"/>
                  <a:pt x="4176" y="62"/>
                  <a:pt x="4182" y="70"/>
                </a:cubicBezTo>
                <a:cubicBezTo>
                  <a:pt x="4187" y="79"/>
                  <a:pt x="4192" y="88"/>
                  <a:pt x="4196" y="98"/>
                </a:cubicBezTo>
                <a:cubicBezTo>
                  <a:pt x="4200" y="107"/>
                  <a:pt x="4203" y="117"/>
                  <a:pt x="4205" y="127"/>
                </a:cubicBezTo>
                <a:cubicBezTo>
                  <a:pt x="4207" y="138"/>
                  <a:pt x="4208" y="148"/>
                  <a:pt x="4208" y="158"/>
                </a:cubicBezTo>
                <a:lnTo>
                  <a:pt x="4208" y="371"/>
                </a:lnTo>
                <a:cubicBezTo>
                  <a:pt x="4208" y="382"/>
                  <a:pt x="4207" y="392"/>
                  <a:pt x="4205" y="402"/>
                </a:cubicBezTo>
                <a:cubicBezTo>
                  <a:pt x="4203" y="412"/>
                  <a:pt x="4200" y="422"/>
                  <a:pt x="4196" y="432"/>
                </a:cubicBezTo>
                <a:cubicBezTo>
                  <a:pt x="4192" y="442"/>
                  <a:pt x="4187" y="451"/>
                  <a:pt x="4182" y="459"/>
                </a:cubicBezTo>
                <a:cubicBezTo>
                  <a:pt x="4176" y="468"/>
                  <a:pt x="4169" y="476"/>
                  <a:pt x="4162" y="483"/>
                </a:cubicBezTo>
                <a:cubicBezTo>
                  <a:pt x="4154" y="491"/>
                  <a:pt x="4146" y="497"/>
                  <a:pt x="4138" y="503"/>
                </a:cubicBezTo>
                <a:cubicBezTo>
                  <a:pt x="4129" y="509"/>
                  <a:pt x="4120" y="514"/>
                  <a:pt x="4110" y="518"/>
                </a:cubicBezTo>
                <a:cubicBezTo>
                  <a:pt x="4101" y="522"/>
                  <a:pt x="4091" y="525"/>
                  <a:pt x="4081" y="527"/>
                </a:cubicBezTo>
                <a:cubicBezTo>
                  <a:pt x="4070" y="529"/>
                  <a:pt x="4060" y="530"/>
                  <a:pt x="4050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3"/>
                </a:cubicBezTo>
                <a:cubicBezTo>
                  <a:pt x="40" y="476"/>
                  <a:pt x="33" y="468"/>
                  <a:pt x="27" y="459"/>
                </a:cubicBezTo>
                <a:cubicBezTo>
                  <a:pt x="21" y="451"/>
                  <a:pt x="17" y="442"/>
                  <a:pt x="13" y="432"/>
                </a:cubicBezTo>
                <a:cubicBezTo>
                  <a:pt x="9" y="422"/>
                  <a:pt x="6" y="412"/>
                  <a:pt x="4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6282000" y="4172400"/>
            <a:ext cx="221760" cy="1789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14. 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6571080" y="4205520"/>
            <a:ext cx="14126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ior-rnd4K-easy-read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8073000" y="4172400"/>
            <a:ext cx="1440720" cy="148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050" b="0" i="1" u="none" strike="noStrike">
                <a:solidFill>
                  <a:srgbClr val="1F2328"/>
                </a:solidFill>
                <a:effectLst/>
                <a:uFillTx/>
                <a:latin typeface=".SFNS-Regular"/>
                <a:ea typeface=".SFNS-Regular"/>
              </a:rPr>
              <a:t>(informational, not scored)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Freeform 119"/>
          <p:cNvSpPr/>
          <p:nvPr/>
        </p:nvSpPr>
        <p:spPr>
          <a:xfrm>
            <a:off x="6333840" y="4733640"/>
            <a:ext cx="1067400" cy="190800"/>
          </a:xfrm>
          <a:custGeom>
            <a:avLst/>
            <a:gdLst/>
            <a:ahLst/>
            <a:cxnLst/>
            <a:rect l="0" t="0" r="r" b="b"/>
            <a:pathLst>
              <a:path w="2965" h="530">
                <a:moveTo>
                  <a:pt x="0" y="37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806" y="0"/>
                </a:lnTo>
                <a:cubicBezTo>
                  <a:pt x="2816" y="0"/>
                  <a:pt x="2827" y="1"/>
                  <a:pt x="2837" y="3"/>
                </a:cubicBezTo>
                <a:cubicBezTo>
                  <a:pt x="2847" y="5"/>
                  <a:pt x="2857" y="8"/>
                  <a:pt x="2867" y="12"/>
                </a:cubicBezTo>
                <a:cubicBezTo>
                  <a:pt x="2876" y="16"/>
                  <a:pt x="2885" y="21"/>
                  <a:pt x="2894" y="27"/>
                </a:cubicBezTo>
                <a:cubicBezTo>
                  <a:pt x="2903" y="33"/>
                  <a:pt x="2911" y="39"/>
                  <a:pt x="2918" y="47"/>
                </a:cubicBezTo>
                <a:cubicBezTo>
                  <a:pt x="2925" y="54"/>
                  <a:pt x="2932" y="62"/>
                  <a:pt x="2938" y="71"/>
                </a:cubicBezTo>
                <a:cubicBezTo>
                  <a:pt x="2944" y="80"/>
                  <a:pt x="2949" y="89"/>
                  <a:pt x="2953" y="98"/>
                </a:cubicBezTo>
                <a:cubicBezTo>
                  <a:pt x="2957" y="108"/>
                  <a:pt x="2960" y="118"/>
                  <a:pt x="2962" y="128"/>
                </a:cubicBezTo>
                <a:cubicBezTo>
                  <a:pt x="2964" y="138"/>
                  <a:pt x="2965" y="149"/>
                  <a:pt x="2965" y="159"/>
                </a:cubicBezTo>
                <a:lnTo>
                  <a:pt x="2965" y="372"/>
                </a:lnTo>
                <a:cubicBezTo>
                  <a:pt x="2965" y="382"/>
                  <a:pt x="2964" y="392"/>
                  <a:pt x="2962" y="403"/>
                </a:cubicBezTo>
                <a:cubicBezTo>
                  <a:pt x="2960" y="413"/>
                  <a:pt x="2957" y="423"/>
                  <a:pt x="2953" y="432"/>
                </a:cubicBezTo>
                <a:cubicBezTo>
                  <a:pt x="2949" y="442"/>
                  <a:pt x="2944" y="451"/>
                  <a:pt x="2938" y="460"/>
                </a:cubicBezTo>
                <a:cubicBezTo>
                  <a:pt x="2932" y="469"/>
                  <a:pt x="2925" y="477"/>
                  <a:pt x="2918" y="484"/>
                </a:cubicBezTo>
                <a:cubicBezTo>
                  <a:pt x="2911" y="491"/>
                  <a:pt x="2903" y="498"/>
                  <a:pt x="2894" y="504"/>
                </a:cubicBezTo>
                <a:cubicBezTo>
                  <a:pt x="2885" y="509"/>
                  <a:pt x="2876" y="514"/>
                  <a:pt x="2867" y="518"/>
                </a:cubicBezTo>
                <a:cubicBezTo>
                  <a:pt x="2857" y="522"/>
                  <a:pt x="2847" y="525"/>
                  <a:pt x="2837" y="527"/>
                </a:cubicBezTo>
                <a:cubicBezTo>
                  <a:pt x="2827" y="529"/>
                  <a:pt x="2816" y="530"/>
                  <a:pt x="2806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4"/>
                </a:cubicBezTo>
                <a:cubicBezTo>
                  <a:pt x="62" y="498"/>
                  <a:pt x="54" y="491"/>
                  <a:pt x="47" y="484"/>
                </a:cubicBezTo>
                <a:cubicBezTo>
                  <a:pt x="39" y="477"/>
                  <a:pt x="33" y="469"/>
                  <a:pt x="27" y="460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3"/>
                  <a:pt x="5" y="413"/>
                  <a:pt x="3" y="403"/>
                </a:cubicBezTo>
                <a:cubicBezTo>
                  <a:pt x="1" y="392"/>
                  <a:pt x="0" y="382"/>
                  <a:pt x="0" y="37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6330960" y="4418640"/>
            <a:ext cx="1558800" cy="21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00" b="1" u="none" strike="noStrike">
                <a:solidFill>
                  <a:srgbClr val="1A5490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Artifacts produced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6380280" y="4758120"/>
            <a:ext cx="9669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results/&lt;ts&gt;/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Freeform 122"/>
          <p:cNvSpPr/>
          <p:nvPr/>
        </p:nvSpPr>
        <p:spPr>
          <a:xfrm>
            <a:off x="7619760" y="4733640"/>
            <a:ext cx="848160" cy="190800"/>
          </a:xfrm>
          <a:custGeom>
            <a:avLst/>
            <a:gdLst/>
            <a:ahLst/>
            <a:cxnLst/>
            <a:rect l="0" t="0" r="r" b="b"/>
            <a:pathLst>
              <a:path w="2356" h="530">
                <a:moveTo>
                  <a:pt x="0" y="37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197" y="0"/>
                </a:lnTo>
                <a:cubicBezTo>
                  <a:pt x="2208" y="0"/>
                  <a:pt x="2218" y="1"/>
                  <a:pt x="2228" y="3"/>
                </a:cubicBezTo>
                <a:cubicBezTo>
                  <a:pt x="2238" y="5"/>
                  <a:pt x="2248" y="8"/>
                  <a:pt x="2258" y="12"/>
                </a:cubicBezTo>
                <a:cubicBezTo>
                  <a:pt x="2268" y="16"/>
                  <a:pt x="2277" y="21"/>
                  <a:pt x="2285" y="27"/>
                </a:cubicBezTo>
                <a:cubicBezTo>
                  <a:pt x="2294" y="33"/>
                  <a:pt x="2302" y="39"/>
                  <a:pt x="2309" y="47"/>
                </a:cubicBezTo>
                <a:cubicBezTo>
                  <a:pt x="2317" y="54"/>
                  <a:pt x="2323" y="62"/>
                  <a:pt x="2329" y="71"/>
                </a:cubicBezTo>
                <a:cubicBezTo>
                  <a:pt x="2335" y="80"/>
                  <a:pt x="2340" y="89"/>
                  <a:pt x="2344" y="98"/>
                </a:cubicBezTo>
                <a:cubicBezTo>
                  <a:pt x="2348" y="108"/>
                  <a:pt x="2351" y="118"/>
                  <a:pt x="2353" y="128"/>
                </a:cubicBezTo>
                <a:cubicBezTo>
                  <a:pt x="2355" y="138"/>
                  <a:pt x="2356" y="149"/>
                  <a:pt x="2356" y="159"/>
                </a:cubicBezTo>
                <a:lnTo>
                  <a:pt x="2356" y="372"/>
                </a:lnTo>
                <a:cubicBezTo>
                  <a:pt x="2356" y="382"/>
                  <a:pt x="2355" y="392"/>
                  <a:pt x="2353" y="403"/>
                </a:cubicBezTo>
                <a:cubicBezTo>
                  <a:pt x="2351" y="413"/>
                  <a:pt x="2348" y="423"/>
                  <a:pt x="2344" y="432"/>
                </a:cubicBezTo>
                <a:cubicBezTo>
                  <a:pt x="2340" y="442"/>
                  <a:pt x="2335" y="451"/>
                  <a:pt x="2329" y="460"/>
                </a:cubicBezTo>
                <a:cubicBezTo>
                  <a:pt x="2323" y="469"/>
                  <a:pt x="2317" y="477"/>
                  <a:pt x="2309" y="484"/>
                </a:cubicBezTo>
                <a:cubicBezTo>
                  <a:pt x="2302" y="491"/>
                  <a:pt x="2294" y="498"/>
                  <a:pt x="2285" y="504"/>
                </a:cubicBezTo>
                <a:cubicBezTo>
                  <a:pt x="2277" y="509"/>
                  <a:pt x="2268" y="514"/>
                  <a:pt x="2258" y="518"/>
                </a:cubicBezTo>
                <a:cubicBezTo>
                  <a:pt x="2248" y="522"/>
                  <a:pt x="2238" y="525"/>
                  <a:pt x="2228" y="527"/>
                </a:cubicBezTo>
                <a:cubicBezTo>
                  <a:pt x="2218" y="529"/>
                  <a:pt x="2208" y="530"/>
                  <a:pt x="2197" y="530"/>
                </a:cubicBezTo>
                <a:lnTo>
                  <a:pt x="159" y="530"/>
                </a:lnTo>
                <a:cubicBezTo>
                  <a:pt x="148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79" y="509"/>
                  <a:pt x="71" y="504"/>
                </a:cubicBezTo>
                <a:cubicBezTo>
                  <a:pt x="62" y="498"/>
                  <a:pt x="54" y="491"/>
                  <a:pt x="47" y="484"/>
                </a:cubicBezTo>
                <a:cubicBezTo>
                  <a:pt x="39" y="477"/>
                  <a:pt x="33" y="469"/>
                  <a:pt x="27" y="460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3"/>
                  <a:pt x="5" y="413"/>
                  <a:pt x="3" y="403"/>
                </a:cubicBezTo>
                <a:cubicBezTo>
                  <a:pt x="1" y="392"/>
                  <a:pt x="0" y="382"/>
                  <a:pt x="0" y="37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7399080" y="4694040"/>
            <a:ext cx="20556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 →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7673760" y="4758120"/>
            <a:ext cx="743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result.txt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Freeform 125"/>
          <p:cNvSpPr/>
          <p:nvPr/>
        </p:nvSpPr>
        <p:spPr>
          <a:xfrm>
            <a:off x="8553240" y="4733640"/>
            <a:ext cx="1438560" cy="190800"/>
          </a:xfrm>
          <a:custGeom>
            <a:avLst/>
            <a:gdLst/>
            <a:ahLst/>
            <a:cxnLst/>
            <a:rect l="0" t="0" r="r" b="b"/>
            <a:pathLst>
              <a:path w="3996" h="530">
                <a:moveTo>
                  <a:pt x="0" y="372"/>
                </a:moveTo>
                <a:lnTo>
                  <a:pt x="0" y="159"/>
                </a:lnTo>
                <a:cubicBezTo>
                  <a:pt x="0" y="149"/>
                  <a:pt x="1" y="138"/>
                  <a:pt x="3" y="128"/>
                </a:cubicBezTo>
                <a:cubicBezTo>
                  <a:pt x="5" y="118"/>
                  <a:pt x="8" y="108"/>
                  <a:pt x="12" y="98"/>
                </a:cubicBezTo>
                <a:cubicBezTo>
                  <a:pt x="16" y="89"/>
                  <a:pt x="21" y="80"/>
                  <a:pt x="27" y="71"/>
                </a:cubicBezTo>
                <a:cubicBezTo>
                  <a:pt x="33" y="62"/>
                  <a:pt x="39" y="54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3838" y="0"/>
                </a:lnTo>
                <a:cubicBezTo>
                  <a:pt x="3848" y="0"/>
                  <a:pt x="3858" y="1"/>
                  <a:pt x="3869" y="3"/>
                </a:cubicBezTo>
                <a:cubicBezTo>
                  <a:pt x="3879" y="5"/>
                  <a:pt x="3889" y="8"/>
                  <a:pt x="3898" y="12"/>
                </a:cubicBezTo>
                <a:cubicBezTo>
                  <a:pt x="3908" y="16"/>
                  <a:pt x="3917" y="21"/>
                  <a:pt x="3926" y="27"/>
                </a:cubicBezTo>
                <a:cubicBezTo>
                  <a:pt x="3934" y="33"/>
                  <a:pt x="3942" y="39"/>
                  <a:pt x="3950" y="47"/>
                </a:cubicBezTo>
                <a:cubicBezTo>
                  <a:pt x="3957" y="54"/>
                  <a:pt x="3964" y="62"/>
                  <a:pt x="3970" y="71"/>
                </a:cubicBezTo>
                <a:cubicBezTo>
                  <a:pt x="3975" y="80"/>
                  <a:pt x="3980" y="89"/>
                  <a:pt x="3984" y="98"/>
                </a:cubicBezTo>
                <a:cubicBezTo>
                  <a:pt x="3988" y="108"/>
                  <a:pt x="3991" y="118"/>
                  <a:pt x="3993" y="128"/>
                </a:cubicBezTo>
                <a:cubicBezTo>
                  <a:pt x="3995" y="138"/>
                  <a:pt x="3996" y="149"/>
                  <a:pt x="3996" y="159"/>
                </a:cubicBezTo>
                <a:lnTo>
                  <a:pt x="3996" y="372"/>
                </a:lnTo>
                <a:cubicBezTo>
                  <a:pt x="3996" y="382"/>
                  <a:pt x="3995" y="392"/>
                  <a:pt x="3993" y="403"/>
                </a:cubicBezTo>
                <a:cubicBezTo>
                  <a:pt x="3991" y="413"/>
                  <a:pt x="3988" y="423"/>
                  <a:pt x="3984" y="432"/>
                </a:cubicBezTo>
                <a:cubicBezTo>
                  <a:pt x="3980" y="442"/>
                  <a:pt x="3975" y="451"/>
                  <a:pt x="3970" y="460"/>
                </a:cubicBezTo>
                <a:cubicBezTo>
                  <a:pt x="3964" y="469"/>
                  <a:pt x="3957" y="477"/>
                  <a:pt x="3950" y="484"/>
                </a:cubicBezTo>
                <a:cubicBezTo>
                  <a:pt x="3942" y="491"/>
                  <a:pt x="3934" y="498"/>
                  <a:pt x="3926" y="504"/>
                </a:cubicBezTo>
                <a:cubicBezTo>
                  <a:pt x="3917" y="509"/>
                  <a:pt x="3908" y="514"/>
                  <a:pt x="3898" y="518"/>
                </a:cubicBezTo>
                <a:cubicBezTo>
                  <a:pt x="3889" y="522"/>
                  <a:pt x="3879" y="525"/>
                  <a:pt x="3869" y="527"/>
                </a:cubicBezTo>
                <a:cubicBezTo>
                  <a:pt x="3858" y="529"/>
                  <a:pt x="3848" y="530"/>
                  <a:pt x="3838" y="530"/>
                </a:cubicBezTo>
                <a:lnTo>
                  <a:pt x="159" y="530"/>
                </a:lnTo>
                <a:cubicBezTo>
                  <a:pt x="148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8" y="514"/>
                  <a:pt x="79" y="509"/>
                  <a:pt x="71" y="504"/>
                </a:cubicBezTo>
                <a:cubicBezTo>
                  <a:pt x="62" y="498"/>
                  <a:pt x="54" y="491"/>
                  <a:pt x="47" y="484"/>
                </a:cubicBezTo>
                <a:cubicBezTo>
                  <a:pt x="39" y="477"/>
                  <a:pt x="33" y="469"/>
                  <a:pt x="27" y="460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3"/>
                  <a:pt x="5" y="413"/>
                  <a:pt x="3" y="403"/>
                </a:cubicBezTo>
                <a:cubicBezTo>
                  <a:pt x="1" y="392"/>
                  <a:pt x="0" y="382"/>
                  <a:pt x="0" y="37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8469000" y="4694040"/>
            <a:ext cx="161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,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8603640" y="4758120"/>
            <a:ext cx="1338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result_summary.txt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Freeform 128"/>
          <p:cNvSpPr/>
          <p:nvPr/>
        </p:nvSpPr>
        <p:spPr>
          <a:xfrm>
            <a:off x="6333840" y="4971960"/>
            <a:ext cx="467280" cy="190800"/>
          </a:xfrm>
          <a:custGeom>
            <a:avLst/>
            <a:gdLst/>
            <a:ahLst/>
            <a:cxnLst/>
            <a:rect l="0" t="0" r="r" b="b"/>
            <a:pathLst>
              <a:path w="1298" h="530">
                <a:moveTo>
                  <a:pt x="0" y="371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1138" y="0"/>
                </a:lnTo>
                <a:cubicBezTo>
                  <a:pt x="1148" y="0"/>
                  <a:pt x="1159" y="1"/>
                  <a:pt x="1169" y="3"/>
                </a:cubicBezTo>
                <a:cubicBezTo>
                  <a:pt x="1179" y="5"/>
                  <a:pt x="1189" y="8"/>
                  <a:pt x="1200" y="12"/>
                </a:cubicBezTo>
                <a:cubicBezTo>
                  <a:pt x="1209" y="16"/>
                  <a:pt x="1219" y="21"/>
                  <a:pt x="1227" y="27"/>
                </a:cubicBezTo>
                <a:cubicBezTo>
                  <a:pt x="1236" y="32"/>
                  <a:pt x="1244" y="39"/>
                  <a:pt x="1251" y="46"/>
                </a:cubicBezTo>
                <a:cubicBezTo>
                  <a:pt x="1259" y="54"/>
                  <a:pt x="1265" y="62"/>
                  <a:pt x="1271" y="70"/>
                </a:cubicBezTo>
                <a:cubicBezTo>
                  <a:pt x="1277" y="79"/>
                  <a:pt x="1282" y="88"/>
                  <a:pt x="1286" y="98"/>
                </a:cubicBezTo>
                <a:cubicBezTo>
                  <a:pt x="1290" y="107"/>
                  <a:pt x="1293" y="117"/>
                  <a:pt x="1295" y="128"/>
                </a:cubicBezTo>
                <a:cubicBezTo>
                  <a:pt x="1297" y="138"/>
                  <a:pt x="1298" y="148"/>
                  <a:pt x="1298" y="158"/>
                </a:cubicBezTo>
                <a:lnTo>
                  <a:pt x="1298" y="371"/>
                </a:lnTo>
                <a:cubicBezTo>
                  <a:pt x="1298" y="382"/>
                  <a:pt x="1297" y="392"/>
                  <a:pt x="1295" y="402"/>
                </a:cubicBezTo>
                <a:cubicBezTo>
                  <a:pt x="1293" y="412"/>
                  <a:pt x="1290" y="422"/>
                  <a:pt x="1286" y="432"/>
                </a:cubicBezTo>
                <a:cubicBezTo>
                  <a:pt x="1282" y="442"/>
                  <a:pt x="1277" y="451"/>
                  <a:pt x="1271" y="459"/>
                </a:cubicBezTo>
                <a:cubicBezTo>
                  <a:pt x="1265" y="468"/>
                  <a:pt x="1259" y="476"/>
                  <a:pt x="1251" y="483"/>
                </a:cubicBezTo>
                <a:cubicBezTo>
                  <a:pt x="1244" y="491"/>
                  <a:pt x="1236" y="497"/>
                  <a:pt x="1227" y="503"/>
                </a:cubicBezTo>
                <a:cubicBezTo>
                  <a:pt x="1219" y="509"/>
                  <a:pt x="1209" y="514"/>
                  <a:pt x="1200" y="518"/>
                </a:cubicBezTo>
                <a:cubicBezTo>
                  <a:pt x="1189" y="522"/>
                  <a:pt x="1179" y="525"/>
                  <a:pt x="1169" y="527"/>
                </a:cubicBezTo>
                <a:cubicBezTo>
                  <a:pt x="1159" y="529"/>
                  <a:pt x="1148" y="530"/>
                  <a:pt x="1138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3"/>
                </a:cubicBezTo>
                <a:cubicBezTo>
                  <a:pt x="39" y="476"/>
                  <a:pt x="33" y="468"/>
                  <a:pt x="27" y="459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9995040" y="4694040"/>
            <a:ext cx="817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, per-phase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TextBox 130"/>
          <p:cNvSpPr txBox="1"/>
          <p:nvPr/>
        </p:nvSpPr>
        <p:spPr>
          <a:xfrm>
            <a:off x="6380280" y="4996080"/>
            <a:ext cx="372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*.txt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Freeform 131"/>
          <p:cNvSpPr/>
          <p:nvPr/>
        </p:nvSpPr>
        <p:spPr>
          <a:xfrm>
            <a:off x="6895800" y="4971960"/>
            <a:ext cx="476640" cy="190800"/>
          </a:xfrm>
          <a:custGeom>
            <a:avLst/>
            <a:gdLst/>
            <a:ahLst/>
            <a:cxnLst/>
            <a:rect l="0" t="0" r="r" b="b"/>
            <a:pathLst>
              <a:path w="1324" h="530">
                <a:moveTo>
                  <a:pt x="0" y="371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7" y="88"/>
                  <a:pt x="22" y="79"/>
                  <a:pt x="28" y="70"/>
                </a:cubicBezTo>
                <a:cubicBezTo>
                  <a:pt x="34" y="62"/>
                  <a:pt x="40" y="54"/>
                  <a:pt x="48" y="46"/>
                </a:cubicBezTo>
                <a:cubicBezTo>
                  <a:pt x="55" y="39"/>
                  <a:pt x="63" y="32"/>
                  <a:pt x="72" y="27"/>
                </a:cubicBezTo>
                <a:cubicBezTo>
                  <a:pt x="81" y="21"/>
                  <a:pt x="90" y="16"/>
                  <a:pt x="99" y="12"/>
                </a:cubicBezTo>
                <a:cubicBezTo>
                  <a:pt x="109" y="8"/>
                  <a:pt x="119" y="5"/>
                  <a:pt x="129" y="3"/>
                </a:cubicBezTo>
                <a:cubicBezTo>
                  <a:pt x="139" y="1"/>
                  <a:pt x="150" y="0"/>
                  <a:pt x="160" y="0"/>
                </a:cubicBezTo>
                <a:lnTo>
                  <a:pt x="1165" y="0"/>
                </a:lnTo>
                <a:cubicBezTo>
                  <a:pt x="1176" y="0"/>
                  <a:pt x="1186" y="1"/>
                  <a:pt x="1196" y="3"/>
                </a:cubicBezTo>
                <a:cubicBezTo>
                  <a:pt x="1207" y="5"/>
                  <a:pt x="1217" y="8"/>
                  <a:pt x="1226" y="12"/>
                </a:cubicBezTo>
                <a:cubicBezTo>
                  <a:pt x="1236" y="16"/>
                  <a:pt x="1245" y="21"/>
                  <a:pt x="1254" y="27"/>
                </a:cubicBezTo>
                <a:cubicBezTo>
                  <a:pt x="1262" y="32"/>
                  <a:pt x="1270" y="39"/>
                  <a:pt x="1278" y="46"/>
                </a:cubicBezTo>
                <a:cubicBezTo>
                  <a:pt x="1285" y="54"/>
                  <a:pt x="1292" y="62"/>
                  <a:pt x="1297" y="70"/>
                </a:cubicBezTo>
                <a:cubicBezTo>
                  <a:pt x="1303" y="79"/>
                  <a:pt x="1308" y="88"/>
                  <a:pt x="1312" y="98"/>
                </a:cubicBezTo>
                <a:cubicBezTo>
                  <a:pt x="1316" y="107"/>
                  <a:pt x="1319" y="117"/>
                  <a:pt x="1321" y="128"/>
                </a:cubicBezTo>
                <a:cubicBezTo>
                  <a:pt x="1323" y="138"/>
                  <a:pt x="1324" y="148"/>
                  <a:pt x="1324" y="158"/>
                </a:cubicBezTo>
                <a:lnTo>
                  <a:pt x="1324" y="371"/>
                </a:lnTo>
                <a:cubicBezTo>
                  <a:pt x="1324" y="382"/>
                  <a:pt x="1323" y="392"/>
                  <a:pt x="1321" y="402"/>
                </a:cubicBezTo>
                <a:cubicBezTo>
                  <a:pt x="1319" y="412"/>
                  <a:pt x="1316" y="422"/>
                  <a:pt x="1312" y="432"/>
                </a:cubicBezTo>
                <a:cubicBezTo>
                  <a:pt x="1308" y="442"/>
                  <a:pt x="1303" y="451"/>
                  <a:pt x="1297" y="459"/>
                </a:cubicBezTo>
                <a:cubicBezTo>
                  <a:pt x="1292" y="468"/>
                  <a:pt x="1285" y="476"/>
                  <a:pt x="1278" y="483"/>
                </a:cubicBezTo>
                <a:cubicBezTo>
                  <a:pt x="1270" y="491"/>
                  <a:pt x="1262" y="497"/>
                  <a:pt x="1254" y="503"/>
                </a:cubicBezTo>
                <a:cubicBezTo>
                  <a:pt x="1245" y="509"/>
                  <a:pt x="1236" y="514"/>
                  <a:pt x="1226" y="518"/>
                </a:cubicBezTo>
                <a:cubicBezTo>
                  <a:pt x="1217" y="522"/>
                  <a:pt x="1207" y="525"/>
                  <a:pt x="1196" y="527"/>
                </a:cubicBezTo>
                <a:cubicBezTo>
                  <a:pt x="1186" y="529"/>
                  <a:pt x="1176" y="530"/>
                  <a:pt x="1165" y="530"/>
                </a:cubicBezTo>
                <a:lnTo>
                  <a:pt x="160" y="530"/>
                </a:lnTo>
                <a:cubicBezTo>
                  <a:pt x="150" y="530"/>
                  <a:pt x="139" y="529"/>
                  <a:pt x="129" y="527"/>
                </a:cubicBezTo>
                <a:cubicBezTo>
                  <a:pt x="119" y="525"/>
                  <a:pt x="109" y="522"/>
                  <a:pt x="99" y="518"/>
                </a:cubicBezTo>
                <a:cubicBezTo>
                  <a:pt x="90" y="514"/>
                  <a:pt x="81" y="509"/>
                  <a:pt x="72" y="503"/>
                </a:cubicBezTo>
                <a:cubicBezTo>
                  <a:pt x="63" y="497"/>
                  <a:pt x="55" y="491"/>
                  <a:pt x="48" y="483"/>
                </a:cubicBezTo>
                <a:cubicBezTo>
                  <a:pt x="40" y="476"/>
                  <a:pt x="34" y="468"/>
                  <a:pt x="28" y="459"/>
                </a:cubicBezTo>
                <a:cubicBezTo>
                  <a:pt x="22" y="451"/>
                  <a:pt x="17" y="442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TextBox 132"/>
          <p:cNvSpPr txBox="1"/>
          <p:nvPr/>
        </p:nvSpPr>
        <p:spPr>
          <a:xfrm>
            <a:off x="6802560" y="4941720"/>
            <a:ext cx="161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+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6949800" y="4996080"/>
            <a:ext cx="3722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*.csv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Freeform 134"/>
          <p:cNvSpPr/>
          <p:nvPr/>
        </p:nvSpPr>
        <p:spPr>
          <a:xfrm>
            <a:off x="8115120" y="4971960"/>
            <a:ext cx="848160" cy="190800"/>
          </a:xfrm>
          <a:custGeom>
            <a:avLst/>
            <a:gdLst/>
            <a:ahLst/>
            <a:cxnLst/>
            <a:rect l="0" t="0" r="r" b="b"/>
            <a:pathLst>
              <a:path w="2356" h="530">
                <a:moveTo>
                  <a:pt x="0" y="371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6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8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2197" y="0"/>
                </a:lnTo>
                <a:cubicBezTo>
                  <a:pt x="2207" y="0"/>
                  <a:pt x="2218" y="1"/>
                  <a:pt x="2228" y="3"/>
                </a:cubicBezTo>
                <a:cubicBezTo>
                  <a:pt x="2238" y="5"/>
                  <a:pt x="2248" y="8"/>
                  <a:pt x="2258" y="12"/>
                </a:cubicBezTo>
                <a:cubicBezTo>
                  <a:pt x="2267" y="16"/>
                  <a:pt x="2277" y="21"/>
                  <a:pt x="2285" y="27"/>
                </a:cubicBezTo>
                <a:cubicBezTo>
                  <a:pt x="2294" y="32"/>
                  <a:pt x="2302" y="39"/>
                  <a:pt x="2309" y="46"/>
                </a:cubicBezTo>
                <a:cubicBezTo>
                  <a:pt x="2317" y="54"/>
                  <a:pt x="2323" y="62"/>
                  <a:pt x="2329" y="70"/>
                </a:cubicBezTo>
                <a:cubicBezTo>
                  <a:pt x="2335" y="79"/>
                  <a:pt x="2340" y="88"/>
                  <a:pt x="2344" y="98"/>
                </a:cubicBezTo>
                <a:cubicBezTo>
                  <a:pt x="2348" y="107"/>
                  <a:pt x="2351" y="117"/>
                  <a:pt x="2353" y="128"/>
                </a:cubicBezTo>
                <a:cubicBezTo>
                  <a:pt x="2355" y="138"/>
                  <a:pt x="2356" y="148"/>
                  <a:pt x="2356" y="158"/>
                </a:cubicBezTo>
                <a:lnTo>
                  <a:pt x="2356" y="371"/>
                </a:lnTo>
                <a:cubicBezTo>
                  <a:pt x="2356" y="382"/>
                  <a:pt x="2355" y="392"/>
                  <a:pt x="2353" y="402"/>
                </a:cubicBezTo>
                <a:cubicBezTo>
                  <a:pt x="2351" y="412"/>
                  <a:pt x="2348" y="422"/>
                  <a:pt x="2344" y="432"/>
                </a:cubicBezTo>
                <a:cubicBezTo>
                  <a:pt x="2340" y="442"/>
                  <a:pt x="2335" y="451"/>
                  <a:pt x="2329" y="459"/>
                </a:cubicBezTo>
                <a:cubicBezTo>
                  <a:pt x="2323" y="468"/>
                  <a:pt x="2317" y="476"/>
                  <a:pt x="2309" y="483"/>
                </a:cubicBezTo>
                <a:cubicBezTo>
                  <a:pt x="2302" y="491"/>
                  <a:pt x="2294" y="497"/>
                  <a:pt x="2285" y="503"/>
                </a:cubicBezTo>
                <a:cubicBezTo>
                  <a:pt x="2277" y="509"/>
                  <a:pt x="2267" y="514"/>
                  <a:pt x="2258" y="518"/>
                </a:cubicBezTo>
                <a:cubicBezTo>
                  <a:pt x="2248" y="522"/>
                  <a:pt x="2238" y="525"/>
                  <a:pt x="2228" y="527"/>
                </a:cubicBezTo>
                <a:cubicBezTo>
                  <a:pt x="2218" y="529"/>
                  <a:pt x="2207" y="530"/>
                  <a:pt x="2197" y="530"/>
                </a:cubicBezTo>
                <a:lnTo>
                  <a:pt x="159" y="530"/>
                </a:lnTo>
                <a:cubicBezTo>
                  <a:pt x="148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8" y="514"/>
                  <a:pt x="79" y="509"/>
                  <a:pt x="71" y="503"/>
                </a:cubicBezTo>
                <a:cubicBezTo>
                  <a:pt x="62" y="497"/>
                  <a:pt x="54" y="491"/>
                  <a:pt x="46" y="483"/>
                </a:cubicBezTo>
                <a:cubicBezTo>
                  <a:pt x="39" y="476"/>
                  <a:pt x="33" y="468"/>
                  <a:pt x="27" y="459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7372080" y="4941720"/>
            <a:ext cx="74592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, archived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8166600" y="4996080"/>
            <a:ext cx="7437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config.ini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Freeform 137"/>
          <p:cNvSpPr/>
          <p:nvPr/>
        </p:nvSpPr>
        <p:spPr>
          <a:xfrm>
            <a:off x="9057960" y="4971960"/>
            <a:ext cx="991080" cy="190800"/>
          </a:xfrm>
          <a:custGeom>
            <a:avLst/>
            <a:gdLst/>
            <a:ahLst/>
            <a:cxnLst/>
            <a:rect l="0" t="0" r="r" b="b"/>
            <a:pathLst>
              <a:path w="2753" h="530">
                <a:moveTo>
                  <a:pt x="0" y="371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2594" y="0"/>
                </a:lnTo>
                <a:cubicBezTo>
                  <a:pt x="2605" y="0"/>
                  <a:pt x="2615" y="1"/>
                  <a:pt x="2625" y="3"/>
                </a:cubicBezTo>
                <a:cubicBezTo>
                  <a:pt x="2635" y="5"/>
                  <a:pt x="2645" y="8"/>
                  <a:pt x="2655" y="12"/>
                </a:cubicBezTo>
                <a:cubicBezTo>
                  <a:pt x="2665" y="16"/>
                  <a:pt x="2674" y="21"/>
                  <a:pt x="2682" y="27"/>
                </a:cubicBezTo>
                <a:cubicBezTo>
                  <a:pt x="2691" y="32"/>
                  <a:pt x="2699" y="39"/>
                  <a:pt x="2707" y="46"/>
                </a:cubicBezTo>
                <a:cubicBezTo>
                  <a:pt x="2714" y="54"/>
                  <a:pt x="2720" y="62"/>
                  <a:pt x="2726" y="70"/>
                </a:cubicBezTo>
                <a:cubicBezTo>
                  <a:pt x="2732" y="79"/>
                  <a:pt x="2737" y="88"/>
                  <a:pt x="2741" y="98"/>
                </a:cubicBezTo>
                <a:cubicBezTo>
                  <a:pt x="2745" y="107"/>
                  <a:pt x="2748" y="117"/>
                  <a:pt x="2750" y="128"/>
                </a:cubicBezTo>
                <a:cubicBezTo>
                  <a:pt x="2752" y="138"/>
                  <a:pt x="2753" y="148"/>
                  <a:pt x="2753" y="158"/>
                </a:cubicBezTo>
                <a:lnTo>
                  <a:pt x="2753" y="371"/>
                </a:lnTo>
                <a:cubicBezTo>
                  <a:pt x="2753" y="382"/>
                  <a:pt x="2752" y="392"/>
                  <a:pt x="2750" y="402"/>
                </a:cubicBezTo>
                <a:cubicBezTo>
                  <a:pt x="2748" y="412"/>
                  <a:pt x="2745" y="422"/>
                  <a:pt x="2741" y="432"/>
                </a:cubicBezTo>
                <a:cubicBezTo>
                  <a:pt x="2737" y="442"/>
                  <a:pt x="2732" y="451"/>
                  <a:pt x="2726" y="459"/>
                </a:cubicBezTo>
                <a:cubicBezTo>
                  <a:pt x="2720" y="468"/>
                  <a:pt x="2714" y="476"/>
                  <a:pt x="2707" y="483"/>
                </a:cubicBezTo>
                <a:cubicBezTo>
                  <a:pt x="2699" y="491"/>
                  <a:pt x="2691" y="497"/>
                  <a:pt x="2682" y="503"/>
                </a:cubicBezTo>
                <a:cubicBezTo>
                  <a:pt x="2674" y="509"/>
                  <a:pt x="2665" y="514"/>
                  <a:pt x="2655" y="518"/>
                </a:cubicBezTo>
                <a:cubicBezTo>
                  <a:pt x="2645" y="522"/>
                  <a:pt x="2635" y="525"/>
                  <a:pt x="2625" y="527"/>
                </a:cubicBezTo>
                <a:cubicBezTo>
                  <a:pt x="2615" y="529"/>
                  <a:pt x="2605" y="530"/>
                  <a:pt x="2594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09"/>
                  <a:pt x="71" y="503"/>
                </a:cubicBezTo>
                <a:cubicBezTo>
                  <a:pt x="62" y="497"/>
                  <a:pt x="54" y="491"/>
                  <a:pt x="47" y="483"/>
                </a:cubicBezTo>
                <a:cubicBezTo>
                  <a:pt x="39" y="476"/>
                  <a:pt x="33" y="468"/>
                  <a:pt x="27" y="459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TextBox 138"/>
          <p:cNvSpPr txBox="1"/>
          <p:nvPr/>
        </p:nvSpPr>
        <p:spPr>
          <a:xfrm>
            <a:off x="8961840" y="4941720"/>
            <a:ext cx="161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+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TextBox 139"/>
          <p:cNvSpPr txBox="1"/>
          <p:nvPr/>
        </p:nvSpPr>
        <p:spPr>
          <a:xfrm>
            <a:off x="9109080" y="4996080"/>
            <a:ext cx="89244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slurm_script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Freeform 140"/>
          <p:cNvSpPr/>
          <p:nvPr/>
        </p:nvSpPr>
        <p:spPr>
          <a:xfrm>
            <a:off x="10134360" y="4971960"/>
            <a:ext cx="1591200" cy="190800"/>
          </a:xfrm>
          <a:custGeom>
            <a:avLst/>
            <a:gdLst/>
            <a:ahLst/>
            <a:cxnLst/>
            <a:rect l="0" t="0" r="r" b="b"/>
            <a:pathLst>
              <a:path w="4420" h="530">
                <a:moveTo>
                  <a:pt x="0" y="371"/>
                </a:moveTo>
                <a:lnTo>
                  <a:pt x="0" y="158"/>
                </a:lnTo>
                <a:cubicBezTo>
                  <a:pt x="0" y="148"/>
                  <a:pt x="1" y="138"/>
                  <a:pt x="3" y="128"/>
                </a:cubicBezTo>
                <a:cubicBezTo>
                  <a:pt x="5" y="117"/>
                  <a:pt x="8" y="107"/>
                  <a:pt x="12" y="98"/>
                </a:cubicBezTo>
                <a:cubicBezTo>
                  <a:pt x="16" y="88"/>
                  <a:pt x="21" y="79"/>
                  <a:pt x="27" y="70"/>
                </a:cubicBezTo>
                <a:cubicBezTo>
                  <a:pt x="33" y="62"/>
                  <a:pt x="39" y="54"/>
                  <a:pt x="47" y="46"/>
                </a:cubicBezTo>
                <a:cubicBezTo>
                  <a:pt x="54" y="39"/>
                  <a:pt x="62" y="32"/>
                  <a:pt x="71" y="27"/>
                </a:cubicBezTo>
                <a:cubicBezTo>
                  <a:pt x="79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8" y="0"/>
                  <a:pt x="159" y="0"/>
                </a:cubicBezTo>
                <a:lnTo>
                  <a:pt x="4261" y="0"/>
                </a:lnTo>
                <a:cubicBezTo>
                  <a:pt x="4271" y="0"/>
                  <a:pt x="4282" y="1"/>
                  <a:pt x="4292" y="3"/>
                </a:cubicBezTo>
                <a:cubicBezTo>
                  <a:pt x="4302" y="5"/>
                  <a:pt x="4312" y="8"/>
                  <a:pt x="4322" y="12"/>
                </a:cubicBezTo>
                <a:cubicBezTo>
                  <a:pt x="4331" y="16"/>
                  <a:pt x="4340" y="21"/>
                  <a:pt x="4349" y="27"/>
                </a:cubicBezTo>
                <a:cubicBezTo>
                  <a:pt x="4358" y="32"/>
                  <a:pt x="4366" y="39"/>
                  <a:pt x="4373" y="46"/>
                </a:cubicBezTo>
                <a:cubicBezTo>
                  <a:pt x="4381" y="54"/>
                  <a:pt x="4387" y="62"/>
                  <a:pt x="4393" y="70"/>
                </a:cubicBezTo>
                <a:cubicBezTo>
                  <a:pt x="4399" y="79"/>
                  <a:pt x="4404" y="88"/>
                  <a:pt x="4408" y="98"/>
                </a:cubicBezTo>
                <a:cubicBezTo>
                  <a:pt x="4412" y="107"/>
                  <a:pt x="4415" y="117"/>
                  <a:pt x="4417" y="128"/>
                </a:cubicBezTo>
                <a:cubicBezTo>
                  <a:pt x="4419" y="138"/>
                  <a:pt x="4420" y="148"/>
                  <a:pt x="4420" y="158"/>
                </a:cubicBezTo>
                <a:lnTo>
                  <a:pt x="4420" y="371"/>
                </a:lnTo>
                <a:cubicBezTo>
                  <a:pt x="4420" y="382"/>
                  <a:pt x="4419" y="392"/>
                  <a:pt x="4417" y="402"/>
                </a:cubicBezTo>
                <a:cubicBezTo>
                  <a:pt x="4415" y="412"/>
                  <a:pt x="4412" y="422"/>
                  <a:pt x="4408" y="432"/>
                </a:cubicBezTo>
                <a:cubicBezTo>
                  <a:pt x="4404" y="442"/>
                  <a:pt x="4399" y="451"/>
                  <a:pt x="4393" y="459"/>
                </a:cubicBezTo>
                <a:cubicBezTo>
                  <a:pt x="4387" y="468"/>
                  <a:pt x="4381" y="476"/>
                  <a:pt x="4373" y="483"/>
                </a:cubicBezTo>
                <a:cubicBezTo>
                  <a:pt x="4366" y="491"/>
                  <a:pt x="4358" y="497"/>
                  <a:pt x="4349" y="503"/>
                </a:cubicBezTo>
                <a:cubicBezTo>
                  <a:pt x="4340" y="509"/>
                  <a:pt x="4331" y="514"/>
                  <a:pt x="4322" y="518"/>
                </a:cubicBezTo>
                <a:cubicBezTo>
                  <a:pt x="4312" y="522"/>
                  <a:pt x="4302" y="525"/>
                  <a:pt x="4292" y="527"/>
                </a:cubicBezTo>
                <a:cubicBezTo>
                  <a:pt x="4282" y="529"/>
                  <a:pt x="4271" y="530"/>
                  <a:pt x="4261" y="530"/>
                </a:cubicBezTo>
                <a:lnTo>
                  <a:pt x="159" y="530"/>
                </a:lnTo>
                <a:cubicBezTo>
                  <a:pt x="148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79" y="509"/>
                  <a:pt x="71" y="503"/>
                </a:cubicBezTo>
                <a:cubicBezTo>
                  <a:pt x="62" y="497"/>
                  <a:pt x="54" y="491"/>
                  <a:pt x="47" y="483"/>
                </a:cubicBezTo>
                <a:cubicBezTo>
                  <a:pt x="39" y="476"/>
                  <a:pt x="33" y="468"/>
                  <a:pt x="27" y="459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2"/>
                  <a:pt x="5" y="412"/>
                  <a:pt x="3" y="402"/>
                </a:cubicBezTo>
                <a:cubicBezTo>
                  <a:pt x="1" y="392"/>
                  <a:pt x="0" y="382"/>
                  <a:pt x="0" y="371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TextBox 141"/>
          <p:cNvSpPr txBox="1"/>
          <p:nvPr/>
        </p:nvSpPr>
        <p:spPr>
          <a:xfrm>
            <a:off x="10053000" y="4941720"/>
            <a:ext cx="161640" cy="21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1280" b="0" u="none" strike="noStrike">
                <a:solidFill>
                  <a:srgbClr val="1F2328"/>
                </a:solidFill>
                <a:effectLst/>
                <a:uFillTx/>
                <a:latin typeface=".SFNS"/>
                <a:ea typeface=".SFNS"/>
              </a:rPr>
              <a:t>, 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10188000" y="4996080"/>
            <a:ext cx="148716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1F2328"/>
                </a:solidFill>
                <a:effectLst/>
                <a:uFillTx/>
                <a:latin typeface="Menlo"/>
                <a:ea typeface="Menlo"/>
              </a:rPr>
              <a:t>io500-sc003-&lt;ts&gt;.tgz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Freeform 143"/>
          <p:cNvSpPr/>
          <p:nvPr/>
        </p:nvSpPr>
        <p:spPr>
          <a:xfrm>
            <a:off x="1847159" y="5976000"/>
            <a:ext cx="1438920" cy="190800"/>
          </a:xfrm>
          <a:custGeom>
            <a:avLst/>
            <a:gdLst/>
            <a:ahLst/>
            <a:cxnLst/>
            <a:rect l="0" t="0" r="r" b="b"/>
            <a:pathLst>
              <a:path w="3997" h="530">
                <a:moveTo>
                  <a:pt x="0" y="372"/>
                </a:moveTo>
                <a:lnTo>
                  <a:pt x="0" y="160"/>
                </a:lnTo>
                <a:cubicBezTo>
                  <a:pt x="0" y="150"/>
                  <a:pt x="2" y="139"/>
                  <a:pt x="4" y="129"/>
                </a:cubicBezTo>
                <a:cubicBezTo>
                  <a:pt x="6" y="119"/>
                  <a:pt x="9" y="109"/>
                  <a:pt x="13" y="99"/>
                </a:cubicBezTo>
                <a:cubicBezTo>
                  <a:pt x="17" y="90"/>
                  <a:pt x="21" y="81"/>
                  <a:pt x="27" y="72"/>
                </a:cubicBezTo>
                <a:cubicBezTo>
                  <a:pt x="33" y="63"/>
                  <a:pt x="40" y="55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9" y="1"/>
                  <a:pt x="149" y="0"/>
                  <a:pt x="159" y="0"/>
                </a:cubicBezTo>
                <a:lnTo>
                  <a:pt x="3838" y="0"/>
                </a:lnTo>
                <a:cubicBezTo>
                  <a:pt x="3848" y="0"/>
                  <a:pt x="3859" y="1"/>
                  <a:pt x="3869" y="3"/>
                </a:cubicBezTo>
                <a:cubicBezTo>
                  <a:pt x="3879" y="5"/>
                  <a:pt x="3889" y="8"/>
                  <a:pt x="3899" y="12"/>
                </a:cubicBezTo>
                <a:cubicBezTo>
                  <a:pt x="3908" y="16"/>
                  <a:pt x="3917" y="21"/>
                  <a:pt x="3926" y="27"/>
                </a:cubicBezTo>
                <a:cubicBezTo>
                  <a:pt x="3935" y="33"/>
                  <a:pt x="3943" y="39"/>
                  <a:pt x="3950" y="47"/>
                </a:cubicBezTo>
                <a:cubicBezTo>
                  <a:pt x="3958" y="55"/>
                  <a:pt x="3964" y="63"/>
                  <a:pt x="3970" y="72"/>
                </a:cubicBezTo>
                <a:cubicBezTo>
                  <a:pt x="3976" y="81"/>
                  <a:pt x="3981" y="90"/>
                  <a:pt x="3985" y="99"/>
                </a:cubicBezTo>
                <a:cubicBezTo>
                  <a:pt x="3989" y="109"/>
                  <a:pt x="3992" y="119"/>
                  <a:pt x="3994" y="129"/>
                </a:cubicBezTo>
                <a:cubicBezTo>
                  <a:pt x="3996" y="139"/>
                  <a:pt x="3997" y="150"/>
                  <a:pt x="3997" y="160"/>
                </a:cubicBezTo>
                <a:lnTo>
                  <a:pt x="3997" y="372"/>
                </a:lnTo>
                <a:cubicBezTo>
                  <a:pt x="3997" y="382"/>
                  <a:pt x="3996" y="392"/>
                  <a:pt x="3994" y="403"/>
                </a:cubicBezTo>
                <a:cubicBezTo>
                  <a:pt x="3992" y="413"/>
                  <a:pt x="3989" y="423"/>
                  <a:pt x="3985" y="432"/>
                </a:cubicBezTo>
                <a:cubicBezTo>
                  <a:pt x="3981" y="442"/>
                  <a:pt x="3976" y="451"/>
                  <a:pt x="3970" y="460"/>
                </a:cubicBezTo>
                <a:cubicBezTo>
                  <a:pt x="3964" y="469"/>
                  <a:pt x="3958" y="477"/>
                  <a:pt x="3950" y="484"/>
                </a:cubicBezTo>
                <a:cubicBezTo>
                  <a:pt x="3943" y="491"/>
                  <a:pt x="3935" y="498"/>
                  <a:pt x="3926" y="504"/>
                </a:cubicBezTo>
                <a:cubicBezTo>
                  <a:pt x="3917" y="510"/>
                  <a:pt x="3908" y="514"/>
                  <a:pt x="3899" y="518"/>
                </a:cubicBezTo>
                <a:cubicBezTo>
                  <a:pt x="3889" y="522"/>
                  <a:pt x="3879" y="525"/>
                  <a:pt x="3869" y="527"/>
                </a:cubicBezTo>
                <a:cubicBezTo>
                  <a:pt x="3859" y="529"/>
                  <a:pt x="3848" y="530"/>
                  <a:pt x="3838" y="530"/>
                </a:cubicBezTo>
                <a:lnTo>
                  <a:pt x="159" y="530"/>
                </a:lnTo>
                <a:cubicBezTo>
                  <a:pt x="149" y="530"/>
                  <a:pt x="139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10"/>
                  <a:pt x="71" y="504"/>
                </a:cubicBezTo>
                <a:cubicBezTo>
                  <a:pt x="62" y="498"/>
                  <a:pt x="54" y="491"/>
                  <a:pt x="47" y="484"/>
                </a:cubicBezTo>
                <a:cubicBezTo>
                  <a:pt x="40" y="477"/>
                  <a:pt x="33" y="469"/>
                  <a:pt x="27" y="460"/>
                </a:cubicBezTo>
                <a:cubicBezTo>
                  <a:pt x="21" y="451"/>
                  <a:pt x="17" y="442"/>
                  <a:pt x="13" y="432"/>
                </a:cubicBezTo>
                <a:cubicBezTo>
                  <a:pt x="9" y="423"/>
                  <a:pt x="6" y="413"/>
                  <a:pt x="4" y="403"/>
                </a:cubicBezTo>
                <a:cubicBezTo>
                  <a:pt x="2" y="392"/>
                  <a:pt x="0" y="382"/>
                  <a:pt x="0" y="37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TextBox 144"/>
          <p:cNvSpPr txBox="1"/>
          <p:nvPr/>
        </p:nvSpPr>
        <p:spPr>
          <a:xfrm>
            <a:off x="266760" y="5982840"/>
            <a:ext cx="1839240" cy="1742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1" u="none" strike="noStrike">
                <a:solidFill>
                  <a:srgbClr val="666666"/>
                </a:solidFill>
                <a:effectLst/>
                <a:uFillTx/>
                <a:latin typeface=".SFNS-Regular_wdth_opsz_GRAD_wght2580000"/>
                <a:ea typeface=".SFNS-Regular_wdth_opsz_GRAD_wght2580000"/>
              </a:rPr>
              <a:t>Score formula </a:t>
            </a:r>
            <a:r>
              <a:rPr lang="en-US" sz="980" b="0" u="none" strike="noStrike">
                <a:solidFill>
                  <a:srgbClr val="666666"/>
                </a:solidFill>
                <a:effectLst/>
                <a:uFillTx/>
                <a:latin typeface=".SFNS"/>
                <a:ea typeface=".SFNS"/>
              </a:rPr>
              <a:t>(for reference): 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TextBox 145"/>
          <p:cNvSpPr txBox="1"/>
          <p:nvPr/>
        </p:nvSpPr>
        <p:spPr>
          <a:xfrm>
            <a:off x="1893959" y="6000480"/>
            <a:ext cx="1338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 dirty="0">
                <a:solidFill>
                  <a:srgbClr val="666666"/>
                </a:solidFill>
                <a:effectLst/>
                <a:uFillTx/>
                <a:latin typeface="Menlo"/>
                <a:ea typeface="Menlo"/>
              </a:rPr>
              <a:t>TOTAL = √(BW × MD)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Freeform 146"/>
          <p:cNvSpPr/>
          <p:nvPr/>
        </p:nvSpPr>
        <p:spPr>
          <a:xfrm>
            <a:off x="6443283" y="5967000"/>
            <a:ext cx="1438560" cy="190800"/>
          </a:xfrm>
          <a:custGeom>
            <a:avLst/>
            <a:gdLst/>
            <a:ahLst/>
            <a:cxnLst/>
            <a:rect l="0" t="0" r="r" b="b"/>
            <a:pathLst>
              <a:path w="3996" h="530">
                <a:moveTo>
                  <a:pt x="0" y="372"/>
                </a:moveTo>
                <a:lnTo>
                  <a:pt x="0" y="160"/>
                </a:lnTo>
                <a:cubicBezTo>
                  <a:pt x="0" y="150"/>
                  <a:pt x="1" y="139"/>
                  <a:pt x="3" y="129"/>
                </a:cubicBezTo>
                <a:cubicBezTo>
                  <a:pt x="5" y="119"/>
                  <a:pt x="8" y="109"/>
                  <a:pt x="12" y="99"/>
                </a:cubicBezTo>
                <a:cubicBezTo>
                  <a:pt x="16" y="90"/>
                  <a:pt x="21" y="81"/>
                  <a:pt x="27" y="72"/>
                </a:cubicBezTo>
                <a:cubicBezTo>
                  <a:pt x="33" y="63"/>
                  <a:pt x="39" y="55"/>
                  <a:pt x="47" y="47"/>
                </a:cubicBezTo>
                <a:cubicBezTo>
                  <a:pt x="54" y="39"/>
                  <a:pt x="62" y="33"/>
                  <a:pt x="71" y="27"/>
                </a:cubicBezTo>
                <a:cubicBezTo>
                  <a:pt x="80" y="21"/>
                  <a:pt x="89" y="16"/>
                  <a:pt x="98" y="12"/>
                </a:cubicBezTo>
                <a:cubicBezTo>
                  <a:pt x="108" y="8"/>
                  <a:pt x="118" y="5"/>
                  <a:pt x="128" y="3"/>
                </a:cubicBezTo>
                <a:cubicBezTo>
                  <a:pt x="138" y="1"/>
                  <a:pt x="149" y="0"/>
                  <a:pt x="159" y="0"/>
                </a:cubicBezTo>
                <a:lnTo>
                  <a:pt x="3838" y="0"/>
                </a:lnTo>
                <a:cubicBezTo>
                  <a:pt x="3848" y="0"/>
                  <a:pt x="3858" y="1"/>
                  <a:pt x="3869" y="3"/>
                </a:cubicBezTo>
                <a:cubicBezTo>
                  <a:pt x="3879" y="5"/>
                  <a:pt x="3889" y="8"/>
                  <a:pt x="3898" y="12"/>
                </a:cubicBezTo>
                <a:cubicBezTo>
                  <a:pt x="3908" y="16"/>
                  <a:pt x="3917" y="21"/>
                  <a:pt x="3926" y="27"/>
                </a:cubicBezTo>
                <a:cubicBezTo>
                  <a:pt x="3935" y="33"/>
                  <a:pt x="3943" y="39"/>
                  <a:pt x="3950" y="47"/>
                </a:cubicBezTo>
                <a:cubicBezTo>
                  <a:pt x="3957" y="55"/>
                  <a:pt x="3964" y="63"/>
                  <a:pt x="3970" y="72"/>
                </a:cubicBezTo>
                <a:cubicBezTo>
                  <a:pt x="3976" y="81"/>
                  <a:pt x="3980" y="90"/>
                  <a:pt x="3984" y="99"/>
                </a:cubicBezTo>
                <a:cubicBezTo>
                  <a:pt x="3988" y="109"/>
                  <a:pt x="3991" y="119"/>
                  <a:pt x="3993" y="129"/>
                </a:cubicBezTo>
                <a:cubicBezTo>
                  <a:pt x="3995" y="139"/>
                  <a:pt x="3996" y="150"/>
                  <a:pt x="3996" y="160"/>
                </a:cubicBezTo>
                <a:lnTo>
                  <a:pt x="3996" y="372"/>
                </a:lnTo>
                <a:cubicBezTo>
                  <a:pt x="3996" y="382"/>
                  <a:pt x="3995" y="392"/>
                  <a:pt x="3993" y="403"/>
                </a:cubicBezTo>
                <a:cubicBezTo>
                  <a:pt x="3991" y="413"/>
                  <a:pt x="3988" y="423"/>
                  <a:pt x="3984" y="432"/>
                </a:cubicBezTo>
                <a:cubicBezTo>
                  <a:pt x="3980" y="442"/>
                  <a:pt x="3976" y="451"/>
                  <a:pt x="3970" y="460"/>
                </a:cubicBezTo>
                <a:cubicBezTo>
                  <a:pt x="3964" y="469"/>
                  <a:pt x="3957" y="477"/>
                  <a:pt x="3950" y="484"/>
                </a:cubicBezTo>
                <a:cubicBezTo>
                  <a:pt x="3943" y="491"/>
                  <a:pt x="3935" y="498"/>
                  <a:pt x="3926" y="504"/>
                </a:cubicBezTo>
                <a:cubicBezTo>
                  <a:pt x="3917" y="510"/>
                  <a:pt x="3908" y="514"/>
                  <a:pt x="3898" y="518"/>
                </a:cubicBezTo>
                <a:cubicBezTo>
                  <a:pt x="3889" y="522"/>
                  <a:pt x="3879" y="525"/>
                  <a:pt x="3869" y="527"/>
                </a:cubicBezTo>
                <a:cubicBezTo>
                  <a:pt x="3858" y="529"/>
                  <a:pt x="3848" y="530"/>
                  <a:pt x="3838" y="530"/>
                </a:cubicBezTo>
                <a:lnTo>
                  <a:pt x="159" y="530"/>
                </a:lnTo>
                <a:cubicBezTo>
                  <a:pt x="149" y="530"/>
                  <a:pt x="138" y="529"/>
                  <a:pt x="128" y="527"/>
                </a:cubicBezTo>
                <a:cubicBezTo>
                  <a:pt x="118" y="525"/>
                  <a:pt x="108" y="522"/>
                  <a:pt x="98" y="518"/>
                </a:cubicBezTo>
                <a:cubicBezTo>
                  <a:pt x="89" y="514"/>
                  <a:pt x="80" y="510"/>
                  <a:pt x="71" y="504"/>
                </a:cubicBezTo>
                <a:cubicBezTo>
                  <a:pt x="62" y="498"/>
                  <a:pt x="54" y="491"/>
                  <a:pt x="47" y="484"/>
                </a:cubicBezTo>
                <a:cubicBezTo>
                  <a:pt x="39" y="477"/>
                  <a:pt x="33" y="469"/>
                  <a:pt x="27" y="460"/>
                </a:cubicBezTo>
                <a:cubicBezTo>
                  <a:pt x="21" y="451"/>
                  <a:pt x="16" y="442"/>
                  <a:pt x="12" y="432"/>
                </a:cubicBezTo>
                <a:cubicBezTo>
                  <a:pt x="8" y="423"/>
                  <a:pt x="5" y="413"/>
                  <a:pt x="3" y="403"/>
                </a:cubicBezTo>
                <a:cubicBezTo>
                  <a:pt x="1" y="392"/>
                  <a:pt x="0" y="382"/>
                  <a:pt x="0" y="372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TextBox 147"/>
          <p:cNvSpPr txBox="1"/>
          <p:nvPr/>
        </p:nvSpPr>
        <p:spPr>
          <a:xfrm>
            <a:off x="3323160" y="5991480"/>
            <a:ext cx="338328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 dirty="0">
                <a:solidFill>
                  <a:srgbClr val="666666"/>
                </a:solidFill>
                <a:effectLst/>
                <a:uFillTx/>
                <a:latin typeface=".SFNS"/>
                <a:ea typeface=".SFNS"/>
              </a:rPr>
              <a:t>, geometric mean across the 12 scored phases — reported in 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TextBox 148"/>
          <p:cNvSpPr txBox="1"/>
          <p:nvPr/>
        </p:nvSpPr>
        <p:spPr>
          <a:xfrm>
            <a:off x="6491163" y="5991480"/>
            <a:ext cx="1338480" cy="143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>
                <a:solidFill>
                  <a:srgbClr val="666666"/>
                </a:solidFill>
                <a:effectLst/>
                <a:uFillTx/>
                <a:latin typeface="Menlo"/>
                <a:ea typeface="Menlo"/>
              </a:rPr>
              <a:t>result_summary.txt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7886880" y="5978880"/>
            <a:ext cx="319140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 dirty="0">
                <a:solidFill>
                  <a:srgbClr val="666666"/>
                </a:solidFill>
                <a:effectLst/>
                <a:uFillTx/>
                <a:latin typeface=".SFNS"/>
                <a:ea typeface=".SFNS"/>
              </a:rPr>
              <a:t>. Single successful run on this date; no run-to-run variance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TextBox 150"/>
          <p:cNvSpPr txBox="1"/>
          <p:nvPr/>
        </p:nvSpPr>
        <p:spPr>
          <a:xfrm>
            <a:off x="10848758" y="5979776"/>
            <a:ext cx="515520" cy="1663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lstStyle/>
          <a:p>
            <a:r>
              <a:rPr lang="en-US" sz="980" b="0" u="none" strike="noStrike" dirty="0">
                <a:solidFill>
                  <a:srgbClr val="666666"/>
                </a:solidFill>
                <a:effectLst/>
                <a:uFillTx/>
                <a:latin typeface=".SFNS"/>
                <a:ea typeface=".SFNS"/>
              </a:rPr>
              <a:t>captured.</a:t>
            </a:r>
            <a:endParaRPr lang="en-US" sz="980" b="0" u="none" strike="noStrike" dirty="0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374</Words>
  <Application>Microsoft Macintosh PowerPoint</Application>
  <PresentationFormat>Widescreen</PresentationFormat>
  <Paragraphs>97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.SFNS</vt:lpstr>
      <vt:lpstr>.SFNS-Regular</vt:lpstr>
      <vt:lpstr>.SFNS-Regular_wdth_opsz_GRAD_wght2580000</vt:lpstr>
      <vt:lpstr>.SFNS-Regular_wdth_opsz1A0000_GRAD_wght2580000</vt:lpstr>
      <vt:lpstr>Arial</vt:lpstr>
      <vt:lpstr>Menlo</vt:lpstr>
      <vt:lpstr>Times New Roman</vt:lpstr>
      <vt:lpstr>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Alan Chapman</cp:lastModifiedBy>
  <cp:revision>1</cp:revision>
  <dcterms:modified xsi:type="dcterms:W3CDTF">2026-05-11T21:22:42Z</dcterms:modified>
  <dc:language>en-US</dc:language>
</cp:coreProperties>
</file>